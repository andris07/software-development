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y="6858000" cx="12192000"/>
  <p:notesSz cx="6858000" cy="9144000"/>
  <p:embeddedFontLst>
    <p:embeddedFont>
      <p:font typeface="Century Gothic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h2jtn/txaW4sf62uRsDyR1ZVGK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font" Target="fonts/CenturyGothic-bold.fntdata"/><Relationship Id="rId27" Type="http://schemas.openxmlformats.org/officeDocument/2006/relationships/font" Target="fonts/CenturyGothic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CenturyGothic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customschemas.google.com/relationships/presentationmetadata" Target="metadata"/><Relationship Id="rId30" Type="http://schemas.openxmlformats.org/officeDocument/2006/relationships/font" Target="fonts/CenturyGothic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hu-H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7d4093ffd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g27d4093ffd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ímdia" type="title">
  <p:cSld name="TITLE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3"/>
          <p:cNvSpPr txBox="1"/>
          <p:nvPr>
            <p:ph type="ctrTitle"/>
          </p:nvPr>
        </p:nvSpPr>
        <p:spPr>
          <a:xfrm>
            <a:off x="2589213" y="2514600"/>
            <a:ext cx="8915399" cy="22627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Century Gothic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3"/>
          <p:cNvSpPr txBox="1"/>
          <p:nvPr>
            <p:ph idx="1" type="subTitle"/>
          </p:nvPr>
        </p:nvSpPr>
        <p:spPr>
          <a:xfrm>
            <a:off x="2589213" y="4777379"/>
            <a:ext cx="8915399" cy="1126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5" name="Google Shape;45;p23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3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/>
          <p:nvPr/>
        </p:nvSpPr>
        <p:spPr>
          <a:xfrm>
            <a:off x="0" y="4323810"/>
            <a:ext cx="1744652" cy="778589"/>
          </a:xfrm>
          <a:custGeom>
            <a:rect b="b" l="l" r="r" t="t"/>
            <a:pathLst>
              <a:path extrusionOk="0" h="166" w="372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3"/>
          <p:cNvSpPr txBox="1"/>
          <p:nvPr>
            <p:ph idx="12" type="sldNum"/>
          </p:nvPr>
        </p:nvSpPr>
        <p:spPr>
          <a:xfrm>
            <a:off x="531812" y="4529540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ím és tartalom" type="obj">
  <p:cSld name="OBJEC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" type="body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4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4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zakaszfejléc" type="secHead">
  <p:cSld name="SECTION_HEADER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5"/>
          <p:cNvSpPr txBox="1"/>
          <p:nvPr>
            <p:ph type="title"/>
          </p:nvPr>
        </p:nvSpPr>
        <p:spPr>
          <a:xfrm>
            <a:off x="2589212" y="2058750"/>
            <a:ext cx="891539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5"/>
          <p:cNvSpPr txBox="1"/>
          <p:nvPr>
            <p:ph idx="1" type="body"/>
          </p:nvPr>
        </p:nvSpPr>
        <p:spPr>
          <a:xfrm>
            <a:off x="2589212" y="3530129"/>
            <a:ext cx="8915399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9" name="Google Shape;59;p25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5"/>
          <p:cNvSpPr/>
          <p:nvPr/>
        </p:nvSpPr>
        <p:spPr>
          <a:xfrm flipH="1" rot="10800000">
            <a:off x="-4189" y="31781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5"/>
          <p:cNvSpPr txBox="1"/>
          <p:nvPr>
            <p:ph idx="12" type="sldNum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tartalomrész" type="twoObj">
  <p:cSld name="TWO_OBJECTS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6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6"/>
          <p:cNvSpPr txBox="1"/>
          <p:nvPr>
            <p:ph idx="1" type="body"/>
          </p:nvPr>
        </p:nvSpPr>
        <p:spPr>
          <a:xfrm>
            <a:off x="2589212" y="2133600"/>
            <a:ext cx="4313864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2" type="body"/>
          </p:nvPr>
        </p:nvSpPr>
        <p:spPr>
          <a:xfrm>
            <a:off x="7190747" y="2126222"/>
            <a:ext cx="4313864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6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6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6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Összehasonlítás" type="twoTxTwoObj">
  <p:cSld name="TWO_OBJECTS_WITH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7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" type="body"/>
          </p:nvPr>
        </p:nvSpPr>
        <p:spPr>
          <a:xfrm>
            <a:off x="2939373" y="1972703"/>
            <a:ext cx="399273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74" name="Google Shape;74;p27"/>
          <p:cNvSpPr txBox="1"/>
          <p:nvPr>
            <p:ph idx="2" type="body"/>
          </p:nvPr>
        </p:nvSpPr>
        <p:spPr>
          <a:xfrm>
            <a:off x="2589212" y="2548966"/>
            <a:ext cx="4342893" cy="3354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75" name="Google Shape;75;p27"/>
          <p:cNvSpPr txBox="1"/>
          <p:nvPr>
            <p:ph idx="3" type="body"/>
          </p:nvPr>
        </p:nvSpPr>
        <p:spPr>
          <a:xfrm>
            <a:off x="7506629" y="1969475"/>
            <a:ext cx="399900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76" name="Google Shape;76;p27"/>
          <p:cNvSpPr txBox="1"/>
          <p:nvPr>
            <p:ph idx="4" type="body"/>
          </p:nvPr>
        </p:nvSpPr>
        <p:spPr>
          <a:xfrm>
            <a:off x="7166957" y="2545738"/>
            <a:ext cx="4338674" cy="3354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27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sak cím" type="titleOnly">
  <p:cSld name="TITLE_ONL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8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8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8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8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8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Üres" type="blank">
  <p:cSld name="BLANK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9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9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9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9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talomrész képaláírással" type="objTx">
  <p:cSld name="OBJECT_WITH_CAPTION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0"/>
          <p:cNvSpPr txBox="1"/>
          <p:nvPr>
            <p:ph type="title"/>
          </p:nvPr>
        </p:nvSpPr>
        <p:spPr>
          <a:xfrm>
            <a:off x="2589212" y="446088"/>
            <a:ext cx="3505199" cy="9763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Century Gothic"/>
              <a:buNone/>
              <a:defRPr b="0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0"/>
          <p:cNvSpPr txBox="1"/>
          <p:nvPr>
            <p:ph idx="1" type="body"/>
          </p:nvPr>
        </p:nvSpPr>
        <p:spPr>
          <a:xfrm>
            <a:off x="6323012" y="446088"/>
            <a:ext cx="5181600" cy="5414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95" name="Google Shape;95;p30"/>
          <p:cNvSpPr txBox="1"/>
          <p:nvPr>
            <p:ph idx="2" type="body"/>
          </p:nvPr>
        </p:nvSpPr>
        <p:spPr>
          <a:xfrm>
            <a:off x="2589212" y="1598613"/>
            <a:ext cx="3505199" cy="4262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96" name="Google Shape;96;p30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0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0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0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ép képaláírással" type="picTx">
  <p:cSld name="PICTURE_WITH_CAPTION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1"/>
          <p:cNvSpPr txBox="1"/>
          <p:nvPr>
            <p:ph type="title"/>
          </p:nvPr>
        </p:nvSpPr>
        <p:spPr>
          <a:xfrm>
            <a:off x="2589213" y="4800600"/>
            <a:ext cx="8915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31"/>
          <p:cNvSpPr/>
          <p:nvPr>
            <p:ph idx="2" type="pic"/>
          </p:nvPr>
        </p:nvSpPr>
        <p:spPr>
          <a:xfrm>
            <a:off x="2589212" y="634965"/>
            <a:ext cx="8915400" cy="385497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31"/>
          <p:cNvSpPr txBox="1"/>
          <p:nvPr>
            <p:ph idx="1" type="body"/>
          </p:nvPr>
        </p:nvSpPr>
        <p:spPr>
          <a:xfrm>
            <a:off x="2589213" y="5367338"/>
            <a:ext cx="8915400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04" name="Google Shape;104;p31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31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31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1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ím és képaláírás">
  <p:cSld name="Cím és képaláírá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2"/>
          <p:cNvSpPr txBox="1"/>
          <p:nvPr>
            <p:ph type="title"/>
          </p:nvPr>
        </p:nvSpPr>
        <p:spPr>
          <a:xfrm>
            <a:off x="2589212" y="609600"/>
            <a:ext cx="8915399" cy="311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2"/>
          <p:cNvSpPr txBox="1"/>
          <p:nvPr>
            <p:ph idx="1" type="body"/>
          </p:nvPr>
        </p:nvSpPr>
        <p:spPr>
          <a:xfrm>
            <a:off x="2589212" y="4354046"/>
            <a:ext cx="8915399" cy="1555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1" name="Google Shape;111;p32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32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32"/>
          <p:cNvSpPr/>
          <p:nvPr/>
        </p:nvSpPr>
        <p:spPr>
          <a:xfrm flipH="1" rot="10800000">
            <a:off x="-4189" y="31781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2"/>
          <p:cNvSpPr txBox="1"/>
          <p:nvPr>
            <p:ph idx="12" type="sldNum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dézet képaláírással">
  <p:cSld name="Idézet képaláírással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3"/>
          <p:cNvSpPr txBox="1"/>
          <p:nvPr>
            <p:ph type="title"/>
          </p:nvPr>
        </p:nvSpPr>
        <p:spPr>
          <a:xfrm>
            <a:off x="2849949" y="609600"/>
            <a:ext cx="8393926" cy="28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33"/>
          <p:cNvSpPr txBox="1"/>
          <p:nvPr>
            <p:ph idx="1" type="body"/>
          </p:nvPr>
        </p:nvSpPr>
        <p:spPr>
          <a:xfrm>
            <a:off x="3275012" y="3505200"/>
            <a:ext cx="7536554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18" name="Google Shape;118;p33"/>
          <p:cNvSpPr txBox="1"/>
          <p:nvPr>
            <p:ph idx="2" type="body"/>
          </p:nvPr>
        </p:nvSpPr>
        <p:spPr>
          <a:xfrm>
            <a:off x="2589212" y="4354046"/>
            <a:ext cx="8915399" cy="1555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9" name="Google Shape;119;p33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33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33"/>
          <p:cNvSpPr/>
          <p:nvPr/>
        </p:nvSpPr>
        <p:spPr>
          <a:xfrm flipH="1" rot="10800000">
            <a:off x="-4189" y="31781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3"/>
          <p:cNvSpPr txBox="1"/>
          <p:nvPr>
            <p:ph idx="12" type="sldNum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  <p:sp>
        <p:nvSpPr>
          <p:cNvPr id="123" name="Google Shape;123;p3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24" name="Google Shape;124;p33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évkártya">
  <p:cSld name="Névkártya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4"/>
          <p:cNvSpPr txBox="1"/>
          <p:nvPr>
            <p:ph type="title"/>
          </p:nvPr>
        </p:nvSpPr>
        <p:spPr>
          <a:xfrm>
            <a:off x="2589213" y="2438400"/>
            <a:ext cx="8915400" cy="27248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34"/>
          <p:cNvSpPr txBox="1"/>
          <p:nvPr>
            <p:ph idx="1" type="body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28" name="Google Shape;128;p34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34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34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34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évkártya idézettel">
  <p:cSld name="Névkártya idézettel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5"/>
          <p:cNvSpPr txBox="1"/>
          <p:nvPr>
            <p:ph type="title"/>
          </p:nvPr>
        </p:nvSpPr>
        <p:spPr>
          <a:xfrm>
            <a:off x="2849949" y="609600"/>
            <a:ext cx="8393926" cy="28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35"/>
          <p:cNvSpPr txBox="1"/>
          <p:nvPr>
            <p:ph idx="1" type="body"/>
          </p:nvPr>
        </p:nvSpPr>
        <p:spPr>
          <a:xfrm>
            <a:off x="2589212" y="4343400"/>
            <a:ext cx="8915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35" name="Google Shape;135;p35"/>
          <p:cNvSpPr txBox="1"/>
          <p:nvPr>
            <p:ph idx="2" type="body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36" name="Google Shape;136;p35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35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5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35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  <p:sp>
        <p:nvSpPr>
          <p:cNvPr id="140" name="Google Shape;140;p35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41" name="Google Shape;141;p35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gaz vagy hamis">
  <p:cSld name="Igaz vagy hamis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6"/>
          <p:cNvSpPr txBox="1"/>
          <p:nvPr>
            <p:ph type="title"/>
          </p:nvPr>
        </p:nvSpPr>
        <p:spPr>
          <a:xfrm>
            <a:off x="2589212" y="627407"/>
            <a:ext cx="8915399" cy="288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36"/>
          <p:cNvSpPr txBox="1"/>
          <p:nvPr>
            <p:ph idx="1" type="body"/>
          </p:nvPr>
        </p:nvSpPr>
        <p:spPr>
          <a:xfrm>
            <a:off x="2589212" y="4343400"/>
            <a:ext cx="8915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45" name="Google Shape;145;p36"/>
          <p:cNvSpPr txBox="1"/>
          <p:nvPr>
            <p:ph idx="2" type="body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46" name="Google Shape;146;p36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6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36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36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ím és függőleges szöveg" type="vertTx">
  <p:cSld name="VERTICAL_TEXT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7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37"/>
          <p:cNvSpPr txBox="1"/>
          <p:nvPr>
            <p:ph idx="1" type="body"/>
          </p:nvPr>
        </p:nvSpPr>
        <p:spPr>
          <a:xfrm rot="5400000">
            <a:off x="5103812" y="-381000"/>
            <a:ext cx="3886200" cy="89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53" name="Google Shape;153;p37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37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37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37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üggőleges cím és szöveg" type="vertTitleAndTx">
  <p:cSld name="VERTICAL_TITLE_AND_VERTICAL_TEXT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8"/>
          <p:cNvSpPr txBox="1"/>
          <p:nvPr>
            <p:ph type="title"/>
          </p:nvPr>
        </p:nvSpPr>
        <p:spPr>
          <a:xfrm rot="5400000">
            <a:off x="7756704" y="2165513"/>
            <a:ext cx="5283817" cy="22076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38"/>
          <p:cNvSpPr txBox="1"/>
          <p:nvPr>
            <p:ph idx="1" type="body"/>
          </p:nvPr>
        </p:nvSpPr>
        <p:spPr>
          <a:xfrm rot="5400000">
            <a:off x="3185803" y="30814"/>
            <a:ext cx="5283817" cy="6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60" name="Google Shape;160;p38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38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38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38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DDE6C3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11" name="Google Shape;11;p22"/>
            <p:cNvSpPr/>
            <p:nvPr/>
          </p:nvSpPr>
          <p:spPr>
            <a:xfrm>
              <a:off x="2487613" y="2284413"/>
              <a:ext cx="85725" cy="533400"/>
            </a:xfrm>
            <a:custGeom>
              <a:rect b="b" l="l" r="r" t="t"/>
              <a:pathLst>
                <a:path extrusionOk="0" h="136" w="22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2"/>
            <p:cNvSpPr/>
            <p:nvPr/>
          </p:nvSpPr>
          <p:spPr>
            <a:xfrm>
              <a:off x="2597151" y="2779713"/>
              <a:ext cx="550863" cy="1978025"/>
            </a:xfrm>
            <a:custGeom>
              <a:rect b="b" l="l" r="r" t="t"/>
              <a:pathLst>
                <a:path extrusionOk="0" h="504" w="14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2"/>
            <p:cNvSpPr/>
            <p:nvPr/>
          </p:nvSpPr>
          <p:spPr>
            <a:xfrm>
              <a:off x="3175001" y="4730750"/>
              <a:ext cx="519113" cy="1209675"/>
            </a:xfrm>
            <a:custGeom>
              <a:rect b="b" l="l" r="r" t="t"/>
              <a:pathLst>
                <a:path extrusionOk="0" h="308" w="132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2"/>
            <p:cNvSpPr/>
            <p:nvPr/>
          </p:nvSpPr>
          <p:spPr>
            <a:xfrm>
              <a:off x="3305176" y="5630863"/>
              <a:ext cx="146050" cy="309563"/>
            </a:xfrm>
            <a:custGeom>
              <a:rect b="b" l="l" r="r" t="t"/>
              <a:pathLst>
                <a:path extrusionOk="0" h="79" w="37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2"/>
            <p:cNvSpPr/>
            <p:nvPr/>
          </p:nvSpPr>
          <p:spPr>
            <a:xfrm>
              <a:off x="2573338" y="2817813"/>
              <a:ext cx="700088" cy="2835275"/>
            </a:xfrm>
            <a:custGeom>
              <a:rect b="b" l="l" r="r" t="t"/>
              <a:pathLst>
                <a:path extrusionOk="0" h="722" w="178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2"/>
            <p:cNvSpPr/>
            <p:nvPr/>
          </p:nvSpPr>
          <p:spPr>
            <a:xfrm>
              <a:off x="2506663" y="285750"/>
              <a:ext cx="90488" cy="2493963"/>
            </a:xfrm>
            <a:custGeom>
              <a:rect b="b" l="l" r="r" t="t"/>
              <a:pathLst>
                <a:path extrusionOk="0" h="635" w="23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2"/>
            <p:cNvSpPr/>
            <p:nvPr/>
          </p:nvSpPr>
          <p:spPr>
            <a:xfrm>
              <a:off x="2554288" y="2598738"/>
              <a:ext cx="66675" cy="420688"/>
            </a:xfrm>
            <a:custGeom>
              <a:rect b="b" l="l" r="r" t="t"/>
              <a:pathLst>
                <a:path extrusionOk="0" h="107" w="1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2"/>
            <p:cNvSpPr/>
            <p:nvPr/>
          </p:nvSpPr>
          <p:spPr>
            <a:xfrm>
              <a:off x="3143251" y="4757738"/>
              <a:ext cx="161925" cy="873125"/>
            </a:xfrm>
            <a:custGeom>
              <a:rect b="b" l="l" r="r" t="t"/>
              <a:pathLst>
                <a:path extrusionOk="0" h="222" w="41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2"/>
            <p:cNvSpPr/>
            <p:nvPr/>
          </p:nvSpPr>
          <p:spPr>
            <a:xfrm>
              <a:off x="3148013" y="1282700"/>
              <a:ext cx="1768475" cy="3448050"/>
            </a:xfrm>
            <a:custGeom>
              <a:rect b="b" l="l" r="r" t="t"/>
              <a:pathLst>
                <a:path extrusionOk="0" h="878" w="45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2"/>
            <p:cNvSpPr/>
            <p:nvPr/>
          </p:nvSpPr>
          <p:spPr>
            <a:xfrm>
              <a:off x="3273426" y="5653088"/>
              <a:ext cx="138113" cy="287338"/>
            </a:xfrm>
            <a:custGeom>
              <a:rect b="b" l="l" r="r" t="t"/>
              <a:pathLst>
                <a:path extrusionOk="0" h="73" w="35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2"/>
            <p:cNvSpPr/>
            <p:nvPr/>
          </p:nvSpPr>
          <p:spPr>
            <a:xfrm>
              <a:off x="3143251" y="4656138"/>
              <a:ext cx="31750" cy="188913"/>
            </a:xfrm>
            <a:custGeom>
              <a:rect b="b" l="l" r="r" t="t"/>
              <a:pathLst>
                <a:path extrusionOk="0" h="48" w="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2"/>
            <p:cNvSpPr/>
            <p:nvPr/>
          </p:nvSpPr>
          <p:spPr>
            <a:xfrm>
              <a:off x="3211513" y="5410200"/>
              <a:ext cx="203200" cy="530225"/>
            </a:xfrm>
            <a:custGeom>
              <a:rect b="b" l="l" r="r" t="t"/>
              <a:pathLst>
                <a:path extrusionOk="0" h="135" w="52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" name="Google Shape;23;p22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24" name="Google Shape;24;p22"/>
            <p:cNvSpPr/>
            <p:nvPr/>
          </p:nvSpPr>
          <p:spPr>
            <a:xfrm>
              <a:off x="6627813" y="194833"/>
              <a:ext cx="409575" cy="3646488"/>
            </a:xfrm>
            <a:custGeom>
              <a:rect b="b" l="l" r="r" t="t"/>
              <a:pathLst>
                <a:path extrusionOk="0" h="920" w="103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2"/>
            <p:cNvSpPr/>
            <p:nvPr/>
          </p:nvSpPr>
          <p:spPr>
            <a:xfrm>
              <a:off x="7061201" y="3771900"/>
              <a:ext cx="350838" cy="1309688"/>
            </a:xfrm>
            <a:custGeom>
              <a:rect b="b" l="l" r="r" t="t"/>
              <a:pathLst>
                <a:path extrusionOk="0" h="330" w="88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22"/>
            <p:cNvSpPr/>
            <p:nvPr/>
          </p:nvSpPr>
          <p:spPr>
            <a:xfrm>
              <a:off x="7439026" y="5053013"/>
              <a:ext cx="357188" cy="820738"/>
            </a:xfrm>
            <a:custGeom>
              <a:rect b="b" l="l" r="r" t="t"/>
              <a:pathLst>
                <a:path extrusionOk="0" h="207" w="9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2"/>
            <p:cNvSpPr/>
            <p:nvPr/>
          </p:nvSpPr>
          <p:spPr>
            <a:xfrm>
              <a:off x="7037388" y="3811588"/>
              <a:ext cx="457200" cy="1852613"/>
            </a:xfrm>
            <a:custGeom>
              <a:rect b="b" l="l" r="r" t="t"/>
              <a:pathLst>
                <a:path extrusionOk="0" h="467" w="115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2"/>
            <p:cNvSpPr/>
            <p:nvPr/>
          </p:nvSpPr>
          <p:spPr>
            <a:xfrm>
              <a:off x="6992938" y="1263650"/>
              <a:ext cx="144463" cy="2508250"/>
            </a:xfrm>
            <a:custGeom>
              <a:rect b="b" l="l" r="r" t="t"/>
              <a:pathLst>
                <a:path extrusionOk="0" h="633" w="36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2"/>
            <p:cNvSpPr/>
            <p:nvPr/>
          </p:nvSpPr>
          <p:spPr>
            <a:xfrm>
              <a:off x="7526338" y="5640388"/>
              <a:ext cx="111125" cy="233363"/>
            </a:xfrm>
            <a:custGeom>
              <a:rect b="b" l="l" r="r" t="t"/>
              <a:pathLst>
                <a:path extrusionOk="0" h="59" w="28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22"/>
            <p:cNvSpPr/>
            <p:nvPr/>
          </p:nvSpPr>
          <p:spPr>
            <a:xfrm>
              <a:off x="7021513" y="3598863"/>
              <a:ext cx="68263" cy="423863"/>
            </a:xfrm>
            <a:custGeom>
              <a:rect b="b" l="l" r="r" t="t"/>
              <a:pathLst>
                <a:path extrusionOk="0" h="107" w="1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2"/>
            <p:cNvSpPr/>
            <p:nvPr/>
          </p:nvSpPr>
          <p:spPr>
            <a:xfrm>
              <a:off x="7412038" y="2801938"/>
              <a:ext cx="1168400" cy="2251075"/>
            </a:xfrm>
            <a:custGeom>
              <a:rect b="b" l="l" r="r" t="t"/>
              <a:pathLst>
                <a:path extrusionOk="0" h="568" w="294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2"/>
            <p:cNvSpPr/>
            <p:nvPr/>
          </p:nvSpPr>
          <p:spPr>
            <a:xfrm>
              <a:off x="7494588" y="5664200"/>
              <a:ext cx="100013" cy="209550"/>
            </a:xfrm>
            <a:custGeom>
              <a:rect b="b" l="l" r="r" t="t"/>
              <a:pathLst>
                <a:path extrusionOk="0" h="53" w="25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2"/>
            <p:cNvSpPr/>
            <p:nvPr/>
          </p:nvSpPr>
          <p:spPr>
            <a:xfrm>
              <a:off x="7412038" y="5081588"/>
              <a:ext cx="114300" cy="558800"/>
            </a:xfrm>
            <a:custGeom>
              <a:rect b="b" l="l" r="r" t="t"/>
              <a:pathLst>
                <a:path extrusionOk="0" h="141" w="29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2"/>
            <p:cNvSpPr/>
            <p:nvPr/>
          </p:nvSpPr>
          <p:spPr>
            <a:xfrm>
              <a:off x="7412038" y="4978400"/>
              <a:ext cx="31750" cy="188913"/>
            </a:xfrm>
            <a:custGeom>
              <a:rect b="b" l="l" r="r" t="t"/>
              <a:pathLst>
                <a:path extrusionOk="0" h="48" w="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22"/>
            <p:cNvSpPr/>
            <p:nvPr/>
          </p:nvSpPr>
          <p:spPr>
            <a:xfrm>
              <a:off x="7439026" y="5434013"/>
              <a:ext cx="174625" cy="439738"/>
            </a:xfrm>
            <a:custGeom>
              <a:rect b="b" l="l" r="r" t="t"/>
              <a:pathLst>
                <a:path extrusionOk="0" h="111" w="44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2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2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8" name="Google Shape;38;p22"/>
          <p:cNvSpPr txBox="1"/>
          <p:nvPr>
            <p:ph idx="1" type="body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b="0" i="0" sz="1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b="0" i="0" sz="14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39" name="Google Shape;39;p22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40" name="Google Shape;40;p22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41" name="Google Shape;41;p22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"/>
          <p:cNvSpPr txBox="1"/>
          <p:nvPr>
            <p:ph type="ctrTitle"/>
          </p:nvPr>
        </p:nvSpPr>
        <p:spPr>
          <a:xfrm>
            <a:off x="2589213" y="2514600"/>
            <a:ext cx="8915399" cy="22627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Century Gothic"/>
              <a:buNone/>
            </a:pPr>
            <a:r>
              <a:rPr lang="hu-HU"/>
              <a:t>Tesztelés</a:t>
            </a:r>
            <a:br>
              <a:rPr lang="hu-HU"/>
            </a:br>
            <a:r>
              <a:rPr lang="hu-HU" sz="3200"/>
              <a:t>Tárgyfelelős: Várkonyi Tibor</a:t>
            </a:r>
            <a:endParaRPr/>
          </a:p>
        </p:txBody>
      </p:sp>
      <p:sp>
        <p:nvSpPr>
          <p:cNvPr id="169" name="Google Shape;169;p1"/>
          <p:cNvSpPr txBox="1"/>
          <p:nvPr>
            <p:ph idx="1" type="subTitle"/>
          </p:nvPr>
        </p:nvSpPr>
        <p:spPr>
          <a:xfrm>
            <a:off x="2589213" y="4777379"/>
            <a:ext cx="8915399" cy="1126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hu-HU"/>
              <a:t>Bevezetés</a:t>
            </a:r>
            <a:endParaRPr/>
          </a:p>
        </p:txBody>
      </p:sp>
      <p:sp>
        <p:nvSpPr>
          <p:cNvPr id="170" name="Google Shape;170;p1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/>
              <a:t>Készítette: Gyamati Gábor@BMSZC Neumann János Informatikai Technikum - 2023.09.10</a:t>
            </a:r>
            <a:endParaRPr/>
          </a:p>
        </p:txBody>
      </p:sp>
      <p:pic>
        <p:nvPicPr>
          <p:cNvPr descr="A képen szöveg, kör, Betűtípus, Védjegy látható&#10;&#10;Automatikusan generált leírás" id="171" name="Google Shape;17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05060" y="1035104"/>
            <a:ext cx="1625970" cy="16005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képen fekete, sötétség látható&#10;&#10;Automatikusan generált leírás" id="172" name="Google Shape;17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9927" y="151827"/>
            <a:ext cx="634921" cy="6349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hu-HU"/>
              <a:t>Alapfogalmak</a:t>
            </a:r>
            <a:endParaRPr/>
          </a:p>
        </p:txBody>
      </p:sp>
      <p:sp>
        <p:nvSpPr>
          <p:cNvPr id="178" name="Google Shape;178;p2"/>
          <p:cNvSpPr txBox="1"/>
          <p:nvPr>
            <p:ph idx="1" type="body"/>
          </p:nvPr>
        </p:nvSpPr>
        <p:spPr>
          <a:xfrm>
            <a:off x="2591074" y="1540188"/>
            <a:ext cx="8915400" cy="37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hu-HU" sz="2000"/>
              <a:t>Tesztelés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hu-HU" sz="2000"/>
              <a:t>System Under Test (SUT)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hu-HU" sz="2000"/>
              <a:t>Teszteset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hu-HU" sz="2000"/>
              <a:t>Validáció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hu-HU" sz="2000"/>
              <a:t>Verifikáció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hu-HU" sz="2000"/>
              <a:t>Teszt eredménye</a:t>
            </a:r>
            <a:endParaRPr sz="2000"/>
          </a:p>
        </p:txBody>
      </p:sp>
      <p:sp>
        <p:nvSpPr>
          <p:cNvPr id="179" name="Google Shape;179;p2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/>
              <a:t>Készítette: Gyamati Gábor@BMSZC Neumann János Informatikai Technikum - 2023.09.10</a:t>
            </a:r>
            <a:endParaRPr/>
          </a:p>
        </p:txBody>
      </p:sp>
      <p:pic>
        <p:nvPicPr>
          <p:cNvPr descr="A képen fekete, sötétség látható&#10;&#10;Automatikusan generált leírás" id="180" name="Google Shape;18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9927" y="151827"/>
            <a:ext cx="634921" cy="6349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hu-HU"/>
              <a:t>Tesztelés</a:t>
            </a:r>
            <a:endParaRPr/>
          </a:p>
        </p:txBody>
      </p:sp>
      <p:sp>
        <p:nvSpPr>
          <p:cNvPr id="186" name="Google Shape;186;p3"/>
          <p:cNvSpPr txBox="1"/>
          <p:nvPr>
            <p:ph idx="1" type="body"/>
          </p:nvPr>
        </p:nvSpPr>
        <p:spPr>
          <a:xfrm>
            <a:off x="2591074" y="1540188"/>
            <a:ext cx="8915400" cy="37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hu-HU" sz="2000"/>
              <a:t>A tesztelés egy olyan folyamat, amit születésünktől kezdve folyamatosan művelünk. Azért tesztelünk, hogy ezzel a tudásunk bővítsük.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hu-HU" sz="2000"/>
              <a:t>Mikor hajtunk végre tesztelést?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hu-HU" sz="2000"/>
              <a:t>Bármikor, amikor egy esemény bekövetkezése előtt következtetünk az esemény hatására. A tesztelés alapjai tudományos módszerből erednek: amikor kísérletet végzünk, minden esetben egy tesztet hajtunk végre</a:t>
            </a:r>
            <a:endParaRPr sz="2000"/>
          </a:p>
        </p:txBody>
      </p:sp>
      <p:sp>
        <p:nvSpPr>
          <p:cNvPr id="187" name="Google Shape;187;p3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/>
              <a:t>Készítette: Gyamati Gábor@BMSZC Neumann János Informatikai Technikum - 2023.09.10</a:t>
            </a:r>
            <a:endParaRPr/>
          </a:p>
        </p:txBody>
      </p:sp>
      <p:pic>
        <p:nvPicPr>
          <p:cNvPr descr="A képen fekete, sötétség látható&#10;&#10;Automatikusan generált leírás" id="188" name="Google Shape;18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9927" y="151827"/>
            <a:ext cx="634921" cy="6349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hu-HU"/>
              <a:t>Tesztelés</a:t>
            </a:r>
            <a:endParaRPr/>
          </a:p>
        </p:txBody>
      </p:sp>
      <p:sp>
        <p:nvSpPr>
          <p:cNvPr id="194" name="Google Shape;194;p4"/>
          <p:cNvSpPr txBox="1"/>
          <p:nvPr>
            <p:ph idx="1" type="body"/>
          </p:nvPr>
        </p:nvSpPr>
        <p:spPr>
          <a:xfrm>
            <a:off x="2589212" y="2133600"/>
            <a:ext cx="8915400" cy="2819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hu-HU"/>
              <a:t>.</a:t>
            </a:r>
            <a:endParaRPr/>
          </a:p>
        </p:txBody>
      </p:sp>
      <p:sp>
        <p:nvSpPr>
          <p:cNvPr id="195" name="Google Shape;195;p4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/>
              <a:t>Készítette: Gyamati Gábor@BMSZC Neumann János Informatikai Technikum - 2023.09.10</a:t>
            </a:r>
            <a:endParaRPr/>
          </a:p>
        </p:txBody>
      </p:sp>
      <p:pic>
        <p:nvPicPr>
          <p:cNvPr descr="A képen fekete, sötétség látható&#10;&#10;Automatikusan generált leírás" id="196" name="Google Shape;19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9927" y="151827"/>
            <a:ext cx="634921" cy="634921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4"/>
          <p:cNvSpPr txBox="1"/>
          <p:nvPr/>
        </p:nvSpPr>
        <p:spPr>
          <a:xfrm>
            <a:off x="2654350" y="1843650"/>
            <a:ext cx="8788800" cy="31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hu-HU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 tesztelés a tudományos módszer része:</a:t>
            </a:r>
            <a:endParaRPr b="0" i="0" sz="20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98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lang="hu-HU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Tesztelés minden alkalommal egy hipotézishez tartozik</a:t>
            </a:r>
            <a:endParaRPr sz="2000"/>
          </a:p>
          <a:p>
            <a:pPr indent="-298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lang="hu-HU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 tesztelés egy kísérlet végrehajtása, amely eldönti, hogy a feltételezésünk igaz volt-e.</a:t>
            </a:r>
            <a:endParaRPr sz="2000"/>
          </a:p>
          <a:p>
            <a:pPr indent="-298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lang="hu-HU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Mindig először a feltételezést fogalmazzuk meg. (Kivéve felfedezéses tesztelésnél)</a:t>
            </a:r>
            <a:endParaRPr sz="2000"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 tantárgy keretében alapvetően szoftvert tesztelünk, de bármilyen mérnöki folyamatnak része a tesztelés.</a:t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5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hu-HU"/>
              <a:t>Tesztelés</a:t>
            </a:r>
            <a:endParaRPr/>
          </a:p>
        </p:txBody>
      </p:sp>
      <p:sp>
        <p:nvSpPr>
          <p:cNvPr id="203" name="Google Shape;203;p5"/>
          <p:cNvSpPr txBox="1"/>
          <p:nvPr>
            <p:ph idx="1" type="body"/>
          </p:nvPr>
        </p:nvSpPr>
        <p:spPr>
          <a:xfrm>
            <a:off x="2589212" y="2133600"/>
            <a:ext cx="8915400" cy="2819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hu-HU"/>
              <a:t>.</a:t>
            </a:r>
            <a:endParaRPr/>
          </a:p>
        </p:txBody>
      </p:sp>
      <p:sp>
        <p:nvSpPr>
          <p:cNvPr id="204" name="Google Shape;204;p5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/>
              <a:t>Készítette: Gyamati Gábor@BMSZC Neumann János Informatikai Technikum - 2023.09.10</a:t>
            </a:r>
            <a:endParaRPr/>
          </a:p>
        </p:txBody>
      </p:sp>
      <p:pic>
        <p:nvPicPr>
          <p:cNvPr descr="A képen fekete, sötétség látható&#10;&#10;Automatikusan generált leírás" id="205" name="Google Shape;20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9927" y="151827"/>
            <a:ext cx="634921" cy="634921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5"/>
          <p:cNvSpPr txBox="1"/>
          <p:nvPr/>
        </p:nvSpPr>
        <p:spPr>
          <a:xfrm>
            <a:off x="2004212" y="1333399"/>
            <a:ext cx="8790000" cy="48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Egy teszt végrehajtása mindig a következő három lépésből áll: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entury Gothic"/>
              <a:buChar char="●"/>
            </a:pPr>
            <a:r>
              <a:rPr b="1" lang="hu-H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Elrendezés</a:t>
            </a:r>
            <a:r>
              <a:rPr lang="hu-H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Előállítjuk azt a környezetet, amelyben a tesztet végre szeretnénk hajtani.</a:t>
            </a:r>
            <a:endParaRPr sz="1800"/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entury Gothic"/>
              <a:buChar char="●"/>
            </a:pPr>
            <a:r>
              <a:rPr b="1" lang="hu-H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Elvégzés</a:t>
            </a:r>
            <a:r>
              <a:rPr lang="hu-H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Végrehajtjuk a teszt eseményt. Esemény nélkül nem létezik teszt sem.</a:t>
            </a:r>
            <a:endParaRPr sz="1800"/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entury Gothic"/>
              <a:buChar char="●"/>
            </a:pPr>
            <a:r>
              <a:rPr b="1" lang="hu-H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Ellenőrzés</a:t>
            </a:r>
            <a:r>
              <a:rPr lang="hu-H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Megvizsgáljuk az esemény hatását.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Ezt a hármast együttesen AAA-nak nevezzük, amely az Arrange (Elrendez), Act (Elvégez), Assert (Ellenőriz) szavak kezdőbetűjéből származik.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 az esemény hatása az elvárt viselkedést hozza, akkor a tesztet </a:t>
            </a:r>
            <a:r>
              <a:rPr b="1" lang="hu-H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elfogadjuk</a:t>
            </a:r>
            <a:r>
              <a:rPr lang="hu-H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 Minden egyéb esetben a tesztet </a:t>
            </a:r>
            <a:r>
              <a:rPr b="1" lang="hu-H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elutasítjuk</a:t>
            </a:r>
            <a:r>
              <a:rPr lang="hu-H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Nagyon fontos, hogy az ellenőrzés során mindig mérhető eredményeket várunk. Egy esemény akkor tesztelhető, ha az esemény bekövetkezte előtt és után is mérhető az ellenőrizendő érték, és bizonyítható, hogy a tesztelt esemény hatására állt elő a várt érték.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6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hu-HU"/>
              <a:t>Tesztelés célja</a:t>
            </a:r>
            <a:endParaRPr/>
          </a:p>
        </p:txBody>
      </p:sp>
      <p:sp>
        <p:nvSpPr>
          <p:cNvPr id="212" name="Google Shape;212;p6"/>
          <p:cNvSpPr txBox="1"/>
          <p:nvPr>
            <p:ph idx="1" type="body"/>
          </p:nvPr>
        </p:nvSpPr>
        <p:spPr>
          <a:xfrm>
            <a:off x="1941512" y="2703000"/>
            <a:ext cx="8915400" cy="14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hu-HU" sz="2000"/>
              <a:t>A szoftvertesztelés célja, hogy feltárja a hibás, nem megfelelő működést, melyek tervezési vagy implementációs hibákból erednek.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hu-HU" sz="2000"/>
              <a:t>Minél hamarabb megtaláljuk ezeket a hibákat, annál könnyebb (gyorsabb, olcsóbb) javítani azokat.</a:t>
            </a:r>
            <a:endParaRPr sz="2000"/>
          </a:p>
        </p:txBody>
      </p:sp>
      <p:sp>
        <p:nvSpPr>
          <p:cNvPr id="213" name="Google Shape;213;p6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/>
              <a:t>Készítette: Gyamati Gábor@BMSZC Neumann János Informatikai Technikum - 2023.09.10</a:t>
            </a:r>
            <a:endParaRPr/>
          </a:p>
        </p:txBody>
      </p:sp>
      <p:pic>
        <p:nvPicPr>
          <p:cNvPr descr="A képen fekete, sötétség látható&#10;&#10;Automatikusan generált leírás" id="214" name="Google Shape;21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9927" y="151827"/>
            <a:ext cx="634921" cy="6349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7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hu-HU"/>
              <a:t>Tesztkritikus rendszerek</a:t>
            </a:r>
            <a:endParaRPr/>
          </a:p>
        </p:txBody>
      </p:sp>
      <p:sp>
        <p:nvSpPr>
          <p:cNvPr id="220" name="Google Shape;220;p7"/>
          <p:cNvSpPr txBox="1"/>
          <p:nvPr>
            <p:ph idx="1" type="body"/>
          </p:nvPr>
        </p:nvSpPr>
        <p:spPr>
          <a:xfrm>
            <a:off x="2591074" y="2487450"/>
            <a:ext cx="8915400" cy="18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hu-HU"/>
              <a:t>Az olyan szoftverek, rendszerek esetén, amikor a hibás működés emberéletekbe kerülhet - vagy megnő a személyi sérülés esélye – különösen fontos, hogy alapos tesztelésnek vessük alá az alkalmazást.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hu-HU"/>
              <a:t>Ilyen esetek lehetnek például az egészségügyi intézményekben használt szoftverek, légiforgalmi irányítási rendszerek, nukleáris létesítményekben működő rendszerek, de akár egy felvonót (liftet) vezérlő alkalmazás is.</a:t>
            </a:r>
            <a:endParaRPr/>
          </a:p>
        </p:txBody>
      </p:sp>
      <p:sp>
        <p:nvSpPr>
          <p:cNvPr id="221" name="Google Shape;221;p7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/>
              <a:t>Készítette: Gyamati Gábor@BMSZC Neumann János Informatikai Technikum - 2023.09.10</a:t>
            </a:r>
            <a:endParaRPr/>
          </a:p>
        </p:txBody>
      </p:sp>
      <p:pic>
        <p:nvPicPr>
          <p:cNvPr descr="A képen fekete, sötétség látható&#10;&#10;Automatikusan generált leírás" id="222" name="Google Shape;22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9927" y="151827"/>
            <a:ext cx="634921" cy="6349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8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hu-HU"/>
              <a:t>Tesztelés a mindennapokban</a:t>
            </a:r>
            <a:endParaRPr/>
          </a:p>
        </p:txBody>
      </p:sp>
      <p:sp>
        <p:nvSpPr>
          <p:cNvPr id="228" name="Google Shape;228;p8"/>
          <p:cNvSpPr txBox="1"/>
          <p:nvPr>
            <p:ph idx="1" type="body"/>
          </p:nvPr>
        </p:nvSpPr>
        <p:spPr>
          <a:xfrm>
            <a:off x="2591062" y="1869300"/>
            <a:ext cx="8915400" cy="31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hu-HU" sz="2000"/>
              <a:t>A mindennapi életben is folyamatosan tesztelünk, gyakran úgy, hogy nem is tudatosul bennünk, hogy tesztet végzünk.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hu-HU" sz="2000"/>
              <a:t>Ilyen például, amikor át akarunk kelni az úton. Felmérjük (teszteljük), hogy szabad-e az út, felmérjük a közeledő autók távolságát, sebességét, ez alapján döntünk, hogy biztonságos-e átkelnünk.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hu-HU" sz="2000"/>
              <a:t>Amikor tűzriadó próba van az iskolában, az is egy teszt – a kiürítési folyamat tesztje. Mindenki el tudja hagyni időre az épületet? Használhatóak a meghatározott menekülési útvonalak? Megközelíthetőek a kijelölt gyülekezési helyek?</a:t>
            </a:r>
            <a:endParaRPr sz="2000"/>
          </a:p>
        </p:txBody>
      </p:sp>
      <p:sp>
        <p:nvSpPr>
          <p:cNvPr id="229" name="Google Shape;229;p8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/>
              <a:t>Készítette: Gyamati Gábor@BMSZC Neumann János Informatikai Technikum - 2023.09.10</a:t>
            </a:r>
            <a:endParaRPr/>
          </a:p>
        </p:txBody>
      </p:sp>
      <p:pic>
        <p:nvPicPr>
          <p:cNvPr descr="A képen fekete, sötétség látható&#10;&#10;Automatikusan generált leírás" id="230" name="Google Shape;23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9927" y="151827"/>
            <a:ext cx="634921" cy="6349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hu-HU"/>
              <a:t>Alapfogalmak</a:t>
            </a:r>
            <a:endParaRPr/>
          </a:p>
        </p:txBody>
      </p:sp>
      <p:sp>
        <p:nvSpPr>
          <p:cNvPr id="236" name="Google Shape;236;p9"/>
          <p:cNvSpPr txBox="1"/>
          <p:nvPr>
            <p:ph idx="1" type="body"/>
          </p:nvPr>
        </p:nvSpPr>
        <p:spPr>
          <a:xfrm>
            <a:off x="2591062" y="2230950"/>
            <a:ext cx="8915400" cy="25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hu-HU" sz="2000"/>
              <a:t>Tesztelés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hu-HU" sz="2000"/>
              <a:t>System Under Test (SUT)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hu-HU" sz="2000"/>
              <a:t>Teszteset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hu-HU" sz="2000"/>
              <a:t>Validáció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hu-HU" sz="2000"/>
              <a:t>Verifikáció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hu-HU" sz="2000"/>
              <a:t>Teszt eredménye</a:t>
            </a:r>
            <a:endParaRPr sz="2000"/>
          </a:p>
        </p:txBody>
      </p:sp>
      <p:sp>
        <p:nvSpPr>
          <p:cNvPr id="237" name="Google Shape;237;p9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/>
              <a:t>Készítette: Gyamati Gábor@BMSZC Neumann János Informatikai Technikum - 2023.09.10</a:t>
            </a:r>
            <a:endParaRPr/>
          </a:p>
        </p:txBody>
      </p:sp>
      <p:pic>
        <p:nvPicPr>
          <p:cNvPr descr="A képen fekete, sötétség látható&#10;&#10;Automatikusan generált leírás" id="238" name="Google Shape;23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9927" y="151827"/>
            <a:ext cx="634921" cy="6349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0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hu-HU"/>
              <a:t>System Under Test (SUT)</a:t>
            </a:r>
            <a:endParaRPr/>
          </a:p>
        </p:txBody>
      </p:sp>
      <p:sp>
        <p:nvSpPr>
          <p:cNvPr id="244" name="Google Shape;244;p10"/>
          <p:cNvSpPr txBox="1"/>
          <p:nvPr>
            <p:ph idx="1" type="body"/>
          </p:nvPr>
        </p:nvSpPr>
        <p:spPr>
          <a:xfrm>
            <a:off x="2591074" y="2151450"/>
            <a:ext cx="89154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hu-HU" sz="2000"/>
              <a:t>A szoftverek (rendszerek) tesztelése során mindig egy konkrét rendszert vizsgálunk. A vizsgálat tárgyát képező rendszert az angol System Under Test kifejezésből származó SUT rövidítéssel jelöljük.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hu-HU" sz="2000"/>
              <a:t>Ez különösen az integrált rendszerek esetén lesz fontos, azaz amikor több rendszer együttes működése a vizsgálat célja – meg kell különböztessük, hogy egy fellépő hiba a vizsgált rendszerben keletkezett, vagy valamelyik kapcsolódó rendszer hibája/el nem érhetősége miatt következett be. </a:t>
            </a:r>
            <a:endParaRPr sz="2000"/>
          </a:p>
        </p:txBody>
      </p:sp>
      <p:sp>
        <p:nvSpPr>
          <p:cNvPr id="245" name="Google Shape;245;p10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/>
              <a:t>Készítette: Gyamati Gábor@BMSZC Neumann János Informatikai Technikum - 2023.09.10</a:t>
            </a:r>
            <a:endParaRPr/>
          </a:p>
        </p:txBody>
      </p:sp>
      <p:pic>
        <p:nvPicPr>
          <p:cNvPr descr="A képen fekete, sötétség látható&#10;&#10;Automatikusan generált leírás" id="246" name="Google Shape;24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9927" y="151827"/>
            <a:ext cx="634921" cy="6349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1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hu-HU"/>
              <a:t>Alapfogalmak</a:t>
            </a:r>
            <a:endParaRPr/>
          </a:p>
        </p:txBody>
      </p:sp>
      <p:sp>
        <p:nvSpPr>
          <p:cNvPr id="252" name="Google Shape;252;p11"/>
          <p:cNvSpPr txBox="1"/>
          <p:nvPr>
            <p:ph idx="1" type="body"/>
          </p:nvPr>
        </p:nvSpPr>
        <p:spPr>
          <a:xfrm>
            <a:off x="2589212" y="2133600"/>
            <a:ext cx="8915400" cy="25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hu-HU" sz="2000"/>
              <a:t>Tesztelés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hu-HU" sz="2000"/>
              <a:t>System Under Test (SUT</a:t>
            </a:r>
            <a:r>
              <a:rPr b="1" lang="hu-HU" sz="2000"/>
              <a:t>)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hu-HU" sz="2000"/>
              <a:t>Teszteset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hu-HU" sz="2000"/>
              <a:t>Validáció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hu-HU" sz="2000"/>
              <a:t>Verifikáció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hu-HU" sz="2000"/>
              <a:t>Teszt eredménye</a:t>
            </a:r>
            <a:endParaRPr sz="2000"/>
          </a:p>
        </p:txBody>
      </p:sp>
      <p:sp>
        <p:nvSpPr>
          <p:cNvPr id="253" name="Google Shape;253;p11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/>
              <a:t>Készítette: Gyamati Gábor@BMSZC Neumann János Informatikai Technikum - 2023.09.10</a:t>
            </a:r>
            <a:endParaRPr/>
          </a:p>
        </p:txBody>
      </p:sp>
      <p:pic>
        <p:nvPicPr>
          <p:cNvPr descr="A képen fekete, sötétség látható&#10;&#10;Automatikusan generált leírás" id="254" name="Google Shape;25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9927" y="151827"/>
            <a:ext cx="634921" cy="6349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hu-HU"/>
              <a:t>Teszteset</a:t>
            </a:r>
            <a:endParaRPr/>
          </a:p>
        </p:txBody>
      </p:sp>
      <p:sp>
        <p:nvSpPr>
          <p:cNvPr id="260" name="Google Shape;260;p12"/>
          <p:cNvSpPr txBox="1"/>
          <p:nvPr>
            <p:ph idx="1" type="body"/>
          </p:nvPr>
        </p:nvSpPr>
        <p:spPr>
          <a:xfrm>
            <a:off x="2591050" y="2151450"/>
            <a:ext cx="89154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hu-HU" sz="2000"/>
              <a:t>A szoftverfejlesztésben a teszteset a bemeneti értékek, a végrehajtási feltételek, az alkalmazandó tesztelési eljárás és az elvárt eredmények összessége, amelyek együttesen meghatároznak egy tesztet. A tesztesetet egy adott szoftvertesztelési cél elérése érdekében kell végrehajtani.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hu-HU" sz="2000"/>
              <a:t>Ilyen lehet például egy megadott program-ág útjának végrehajtása vagy ellenőrzése, vagy meghatározott követelménynek való megfelelés.</a:t>
            </a:r>
            <a:endParaRPr sz="2000"/>
          </a:p>
        </p:txBody>
      </p:sp>
      <p:sp>
        <p:nvSpPr>
          <p:cNvPr id="261" name="Google Shape;261;p12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/>
              <a:t>Készítette: Gyamati Gábor@BMSZC Neumann János Informatikai Technikum - 2023.09.10</a:t>
            </a:r>
            <a:endParaRPr/>
          </a:p>
        </p:txBody>
      </p:sp>
      <p:pic>
        <p:nvPicPr>
          <p:cNvPr descr="A képen fekete, sötétség látható&#10;&#10;Automatikusan generált leírás" id="262" name="Google Shape;26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9927" y="151827"/>
            <a:ext cx="634921" cy="6349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3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hu-HU"/>
              <a:t>Alapfogalmak</a:t>
            </a:r>
            <a:endParaRPr/>
          </a:p>
        </p:txBody>
      </p:sp>
      <p:sp>
        <p:nvSpPr>
          <p:cNvPr id="268" name="Google Shape;268;p13"/>
          <p:cNvSpPr txBox="1"/>
          <p:nvPr>
            <p:ph idx="1" type="body"/>
          </p:nvPr>
        </p:nvSpPr>
        <p:spPr>
          <a:xfrm>
            <a:off x="2591074" y="2138550"/>
            <a:ext cx="8915400" cy="25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hu-HU" sz="2000"/>
              <a:t>Tesztelés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hu-HU" sz="2000"/>
              <a:t>System Under Test (SUT</a:t>
            </a:r>
            <a:r>
              <a:rPr b="1" lang="hu-HU" sz="2000"/>
              <a:t>)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hu-HU" sz="2000"/>
              <a:t>Teszteset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hu-HU" sz="2000"/>
              <a:t>Validáció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hu-HU" sz="2000"/>
              <a:t>Verifikáció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hu-HU" sz="2000"/>
              <a:t>Teszt eredménye</a:t>
            </a:r>
            <a:endParaRPr sz="2000"/>
          </a:p>
        </p:txBody>
      </p:sp>
      <p:sp>
        <p:nvSpPr>
          <p:cNvPr id="269" name="Google Shape;269;p13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/>
              <a:t>Készítette: Gyamati Gábor@BMSZC Neumann János Informatikai Technikum - 2023.09.10</a:t>
            </a:r>
            <a:endParaRPr/>
          </a:p>
        </p:txBody>
      </p:sp>
      <p:pic>
        <p:nvPicPr>
          <p:cNvPr descr="A képen fekete, sötétség látható&#10;&#10;Automatikusan generált leírás" id="270" name="Google Shape;27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9927" y="151827"/>
            <a:ext cx="634921" cy="6349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4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hu-HU"/>
              <a:t>Validáció</a:t>
            </a:r>
            <a:endParaRPr/>
          </a:p>
        </p:txBody>
      </p:sp>
      <p:sp>
        <p:nvSpPr>
          <p:cNvPr id="276" name="Google Shape;276;p14"/>
          <p:cNvSpPr txBox="1"/>
          <p:nvPr>
            <p:ph idx="1" type="body"/>
          </p:nvPr>
        </p:nvSpPr>
        <p:spPr>
          <a:xfrm>
            <a:off x="2591063" y="1253550"/>
            <a:ext cx="8915400" cy="43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hu-HU" sz="2000"/>
              <a:t>A validáció célja, hogy megállapítsuk egy adott rendszerről, hogy az megfelel-e a felhasználó igényeinek.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hu-HU" sz="2000"/>
              <a:t>Mivel az esetek nagy részében a megrendelő igényei csak nagyon felületesen, elnagyoltan vannak megfogalmazva („Szükségünk van egy szoftverre, amiben a számlákat tudjuk kezelni.”), ezért nagyon fontos, hogy a követelmények részletes meghatározása, specifikálása során minél több információt gyűjtsünk be, pontosítsuk az igényeket, hogy a leszállított termék (az elkészült alkalmazás) minél inkább megfeleljen az igényeknek.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hu-HU" sz="2000"/>
              <a:t>Ha csak a validáció során derül ki, hogy a felhasználó mire is gondolt pontosan, az gyakran az egész alkalmazásunk újra tervezését igényelheti. (Ami a határidő csúszását, extra költségeket, és a felhasználó bizalmának elvesztését eredményezheti).</a:t>
            </a:r>
            <a:endParaRPr sz="2000"/>
          </a:p>
        </p:txBody>
      </p:sp>
      <p:sp>
        <p:nvSpPr>
          <p:cNvPr id="277" name="Google Shape;277;p14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/>
              <a:t>Készítette: Gyamati Gábor@BMSZC Neumann János Informatikai Technikum - 2023.09.10</a:t>
            </a:r>
            <a:endParaRPr/>
          </a:p>
        </p:txBody>
      </p:sp>
      <p:pic>
        <p:nvPicPr>
          <p:cNvPr descr="A képen fekete, sötétség látható&#10;&#10;Automatikusan generált leírás" id="278" name="Google Shape;27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9927" y="151827"/>
            <a:ext cx="634921" cy="6349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5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hu-HU"/>
              <a:t>Alapfogalmak</a:t>
            </a:r>
            <a:endParaRPr/>
          </a:p>
        </p:txBody>
      </p:sp>
      <p:sp>
        <p:nvSpPr>
          <p:cNvPr id="284" name="Google Shape;284;p15"/>
          <p:cNvSpPr txBox="1"/>
          <p:nvPr>
            <p:ph idx="1" type="body"/>
          </p:nvPr>
        </p:nvSpPr>
        <p:spPr>
          <a:xfrm>
            <a:off x="2589212" y="2133600"/>
            <a:ext cx="8915400" cy="25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hu-HU" sz="2000"/>
              <a:t>Tesztelés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hu-HU" sz="2000"/>
              <a:t>System Under Test (SUT</a:t>
            </a:r>
            <a:r>
              <a:rPr b="1" lang="hu-HU" sz="2000"/>
              <a:t>)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hu-HU" sz="2000"/>
              <a:t>Teszteset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hu-HU" sz="2000"/>
              <a:t>Validáció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hu-HU" sz="2000"/>
              <a:t>Verifikáció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hu-HU" sz="2000"/>
              <a:t>Teszt eredménye</a:t>
            </a:r>
            <a:endParaRPr sz="2000"/>
          </a:p>
        </p:txBody>
      </p:sp>
      <p:sp>
        <p:nvSpPr>
          <p:cNvPr id="285" name="Google Shape;285;p15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/>
              <a:t>Készítette: Gyamati Gábor@BMSZC Neumann János Informatikai Technikum - 2023.09.10</a:t>
            </a:r>
            <a:endParaRPr/>
          </a:p>
        </p:txBody>
      </p:sp>
      <p:pic>
        <p:nvPicPr>
          <p:cNvPr descr="A képen fekete, sötétség látható&#10;&#10;Automatikusan generált leírás" id="286" name="Google Shape;28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9927" y="151827"/>
            <a:ext cx="634921" cy="6349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6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hu-HU"/>
              <a:t>Verifikáció</a:t>
            </a:r>
            <a:endParaRPr/>
          </a:p>
        </p:txBody>
      </p:sp>
      <p:sp>
        <p:nvSpPr>
          <p:cNvPr id="292" name="Google Shape;292;p16"/>
          <p:cNvSpPr txBox="1"/>
          <p:nvPr>
            <p:ph idx="1" type="body"/>
          </p:nvPr>
        </p:nvSpPr>
        <p:spPr>
          <a:xfrm>
            <a:off x="2591062" y="1869300"/>
            <a:ext cx="8915400" cy="31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hu-HU" sz="2000"/>
              <a:t>A verifikáció célja, hogy megállapítsuk egy adott rendszerről, hogy az megfelel-e a specifikációnak, a meghatározott követelményeknek, jogszabályi előírásoknak.</a:t>
            </a:r>
            <a:endParaRPr sz="2000"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hu-HU" sz="2000"/>
              <a:t>A verifikáció során feltárt eltérések oka leggyakrabb implementációs hibára vezethető vissza, azaz az alkalmazás megvalósítása (programozása, a kód „írása”) során került a rendszerbe a hiányosság.</a:t>
            </a:r>
            <a:endParaRPr sz="2000"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hu-HU" sz="2000"/>
              <a:t>Ritkább esetben tervezési hiba is lehet az eltér oka, azaz az elvárt követelmények nem, vagy nem megfelelően lettek figyelembe véve a logikai- és/vagy fizikai rendszerterv meghatározása során.</a:t>
            </a:r>
            <a:endParaRPr sz="2000"/>
          </a:p>
        </p:txBody>
      </p:sp>
      <p:sp>
        <p:nvSpPr>
          <p:cNvPr id="293" name="Google Shape;293;p16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/>
              <a:t>Készítette: Gyamati Gábor@BMSZC Neumann János Informatikai Technikum - 2023.09.10</a:t>
            </a:r>
            <a:endParaRPr/>
          </a:p>
        </p:txBody>
      </p:sp>
      <p:pic>
        <p:nvPicPr>
          <p:cNvPr descr="A képen fekete, sötétség látható&#10;&#10;Automatikusan generált leírás" id="294" name="Google Shape;29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9927" y="151827"/>
            <a:ext cx="634921" cy="6349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7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hu-HU"/>
              <a:t>Alapfogalmak</a:t>
            </a:r>
            <a:endParaRPr/>
          </a:p>
        </p:txBody>
      </p:sp>
      <p:sp>
        <p:nvSpPr>
          <p:cNvPr id="300" name="Google Shape;300;p17"/>
          <p:cNvSpPr txBox="1"/>
          <p:nvPr>
            <p:ph idx="1" type="body"/>
          </p:nvPr>
        </p:nvSpPr>
        <p:spPr>
          <a:xfrm>
            <a:off x="2591074" y="2138550"/>
            <a:ext cx="8915400" cy="25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hu-HU" sz="2000"/>
              <a:t>Tesztelés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hu-HU" sz="2000"/>
              <a:t>System Under Test (SUT</a:t>
            </a:r>
            <a:r>
              <a:rPr b="1" lang="hu-HU" sz="2000"/>
              <a:t>)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hu-HU" sz="2000"/>
              <a:t>Teszteset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hu-HU" sz="2000"/>
              <a:t>Validáció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hu-HU" sz="2000"/>
              <a:t>Verifikáció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hu-HU" sz="2000"/>
              <a:t>Teszt eredménye</a:t>
            </a:r>
            <a:endParaRPr sz="2000"/>
          </a:p>
        </p:txBody>
      </p:sp>
      <p:sp>
        <p:nvSpPr>
          <p:cNvPr id="301" name="Google Shape;301;p17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/>
              <a:t>Készítette: Gyamati Gábor@BMSZC Neumann János Informatikai Technikum - 2023.09.10</a:t>
            </a:r>
            <a:endParaRPr/>
          </a:p>
        </p:txBody>
      </p:sp>
      <p:pic>
        <p:nvPicPr>
          <p:cNvPr descr="A képen fekete, sötétség látható&#10;&#10;Automatikusan generált leírás" id="302" name="Google Shape;30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9927" y="151827"/>
            <a:ext cx="634921" cy="6349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8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hu-HU"/>
              <a:t>Teszt eredménye</a:t>
            </a:r>
            <a:endParaRPr/>
          </a:p>
        </p:txBody>
      </p:sp>
      <p:sp>
        <p:nvSpPr>
          <p:cNvPr id="308" name="Google Shape;308;p18"/>
          <p:cNvSpPr txBox="1"/>
          <p:nvPr>
            <p:ph idx="1" type="body"/>
          </p:nvPr>
        </p:nvSpPr>
        <p:spPr>
          <a:xfrm>
            <a:off x="2591074" y="2048850"/>
            <a:ext cx="8915400" cy="26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hu-HU" sz="2000"/>
              <a:t>A konkrét teszt eredménye minden eset pontosan egy eredmény lesz: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🠶"/>
            </a:pPr>
            <a:r>
              <a:rPr lang="hu-HU" sz="2000"/>
              <a:t>Elfogadás (Pass): a teszt sikeres volt, a teszt eredménye az elvárt értéket hozta. Szokás zöld színnel is jelölni.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🠶"/>
            </a:pPr>
            <a:r>
              <a:rPr lang="hu-HU" sz="2000"/>
              <a:t>Elutasítás (Fail): a teszt sikertelen volt, nem az elvárt érték született.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hu-HU" sz="2000"/>
              <a:t>A tesztelésben nem létezik „majdnem jó”, „szinte sikerült”, stb. értékek.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hu-HU" sz="2000"/>
              <a:t>Ha valamilyen külső hatás miatt a tesztet nem sikerül elvégezni, az adott teszt sikertelennek fog számítani, a tesztet meg kell ismételni. </a:t>
            </a:r>
            <a:endParaRPr b="1" sz="2000"/>
          </a:p>
        </p:txBody>
      </p:sp>
      <p:sp>
        <p:nvSpPr>
          <p:cNvPr id="309" name="Google Shape;309;p18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/>
              <a:t>Készítette: Gyamati Gábor@BMSZC Neumann János Informatikai Technikum - 2023.09.10</a:t>
            </a:r>
            <a:endParaRPr/>
          </a:p>
        </p:txBody>
      </p:sp>
      <p:pic>
        <p:nvPicPr>
          <p:cNvPr descr="A képen fekete, sötétség látható&#10;&#10;Automatikusan generált leírás" id="310" name="Google Shape;31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9927" y="151827"/>
            <a:ext cx="634921" cy="6349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9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hu-HU"/>
              <a:t>Teszt eredménye I.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316" name="Google Shape;316;p19"/>
          <p:cNvSpPr txBox="1"/>
          <p:nvPr>
            <p:ph idx="1" type="body"/>
          </p:nvPr>
        </p:nvSpPr>
        <p:spPr>
          <a:xfrm>
            <a:off x="2591062" y="1894950"/>
            <a:ext cx="8915400" cy="26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hu-HU" sz="2000"/>
              <a:t>A teszt eredményéről általában teszt jegyzőkönyvet veszünk fel. Itt rögzítjük a teszthez kapcsolódó lényeges információkat. Egy tipikus tesztjegyzőkönyv legalább a következő elemeket tartalmazza: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🠶"/>
            </a:pPr>
            <a:r>
              <a:rPr b="1" lang="hu-HU" sz="2000"/>
              <a:t>Teszteset száma </a:t>
            </a:r>
            <a:r>
              <a:rPr lang="hu-HU" sz="2000"/>
              <a:t>– a teszteset egyedi azonosítója.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🠶"/>
            </a:pPr>
            <a:r>
              <a:rPr b="1" lang="hu-HU" sz="2000"/>
              <a:t>Teszteset leírása </a:t>
            </a:r>
            <a:r>
              <a:rPr lang="hu-HU" sz="2000"/>
              <a:t>- Szöveges leírás, hogy mit teszteltünk.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🠶"/>
            </a:pPr>
            <a:r>
              <a:rPr b="1" lang="hu-HU" sz="2000"/>
              <a:t>Teszt lépések</a:t>
            </a:r>
            <a:r>
              <a:rPr lang="hu-HU" sz="2000"/>
              <a:t> – A teszteset végrehajtásának konkrét lépései.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🠶"/>
            </a:pPr>
            <a:r>
              <a:rPr b="1" lang="hu-HU" sz="2000"/>
              <a:t>Elvárt eredmény</a:t>
            </a:r>
            <a:r>
              <a:rPr lang="hu-HU" sz="2000"/>
              <a:t> – A teszt elvárt eredménye, mi alapján fogjuk sikeresnek vagy hibásnak tekintetni a tesztet.</a:t>
            </a:r>
            <a:endParaRPr b="1" sz="2000"/>
          </a:p>
        </p:txBody>
      </p:sp>
      <p:sp>
        <p:nvSpPr>
          <p:cNvPr id="317" name="Google Shape;317;p19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/>
              <a:t>Készítette: Gyamati Gábor@BMSZC Neumann János Informatikai Technikum - 2023.09.10</a:t>
            </a:r>
            <a:endParaRPr/>
          </a:p>
        </p:txBody>
      </p:sp>
      <p:pic>
        <p:nvPicPr>
          <p:cNvPr descr="A képen fekete, sötétség látható&#10;&#10;Automatikusan generált leírás" id="318" name="Google Shape;31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9927" y="151827"/>
            <a:ext cx="634921" cy="6349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27d4093ffd3_0_0"/>
          <p:cNvSpPr txBox="1"/>
          <p:nvPr>
            <p:ph type="title"/>
          </p:nvPr>
        </p:nvSpPr>
        <p:spPr>
          <a:xfrm>
            <a:off x="2592925" y="624110"/>
            <a:ext cx="8911800" cy="12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hu-HU"/>
              <a:t>Teszt eredménye II.</a:t>
            </a:r>
            <a:endParaRPr/>
          </a:p>
        </p:txBody>
      </p:sp>
      <p:sp>
        <p:nvSpPr>
          <p:cNvPr id="324" name="Google Shape;324;g27d4093ffd3_0_0"/>
          <p:cNvSpPr txBox="1"/>
          <p:nvPr>
            <p:ph idx="1" type="body"/>
          </p:nvPr>
        </p:nvSpPr>
        <p:spPr>
          <a:xfrm>
            <a:off x="2591124" y="1830750"/>
            <a:ext cx="89154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🠶"/>
            </a:pPr>
            <a:r>
              <a:rPr b="1" lang="hu-HU" sz="2000"/>
              <a:t>Előfeltételek</a:t>
            </a:r>
            <a:r>
              <a:rPr lang="hu-HU" sz="2000"/>
              <a:t> – Milyen előfeltételek vagy előző lépések szükségesek a teszt végrehajtásához.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🠶"/>
            </a:pPr>
            <a:r>
              <a:rPr b="1" lang="hu-HU" sz="2000"/>
              <a:t>Teszt kategóriája</a:t>
            </a:r>
            <a:endParaRPr b="1"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🠶"/>
            </a:pPr>
            <a:r>
              <a:rPr b="1" lang="hu-HU" sz="2000"/>
              <a:t>Szerző </a:t>
            </a:r>
            <a:r>
              <a:rPr lang="hu-HU" sz="2000"/>
              <a:t>– a tesztet végző személy.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🠶"/>
            </a:pPr>
            <a:r>
              <a:rPr b="1" lang="hu-HU" sz="2000"/>
              <a:t>Automatizált</a:t>
            </a:r>
            <a:r>
              <a:rPr lang="hu-HU" sz="2000"/>
              <a:t> – Automatizált vagy manuális teszt történt-e.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🠶"/>
            </a:pPr>
            <a:r>
              <a:rPr b="1" lang="hu-HU" sz="2000"/>
              <a:t>Teszt eredménye</a:t>
            </a:r>
            <a:r>
              <a:rPr lang="hu-HU" sz="2000"/>
              <a:t>: sikeres volt-e a teszt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🠶"/>
            </a:pPr>
            <a:r>
              <a:rPr b="1" lang="hu-HU" sz="2000"/>
              <a:t>Megjegyzések</a:t>
            </a:r>
            <a:r>
              <a:rPr lang="hu-HU" sz="2000"/>
              <a:t>: bármi más érdemleges információ a tesztről, ami a teszt megismétlése során releváns lehet.</a:t>
            </a:r>
            <a:endParaRPr b="1" sz="2000"/>
          </a:p>
        </p:txBody>
      </p:sp>
      <p:sp>
        <p:nvSpPr>
          <p:cNvPr id="325" name="Google Shape;325;g27d4093ffd3_0_0"/>
          <p:cNvSpPr txBox="1"/>
          <p:nvPr>
            <p:ph idx="11" type="ftr"/>
          </p:nvPr>
        </p:nvSpPr>
        <p:spPr>
          <a:xfrm>
            <a:off x="2589212" y="6135808"/>
            <a:ext cx="7620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/>
              <a:t>Készítette: Gyamati Gábor@BMSZC Neumann János Informatikai Technikum - 2023.09.10</a:t>
            </a:r>
            <a:endParaRPr/>
          </a:p>
        </p:txBody>
      </p:sp>
      <p:pic>
        <p:nvPicPr>
          <p:cNvPr descr="A képen fekete, sötétség látható&#10;&#10;Automatikusan generált leírás" id="326" name="Google Shape;326;g27d4093ffd3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9927" y="151827"/>
            <a:ext cx="634921" cy="6349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0"/>
          <p:cNvSpPr txBox="1"/>
          <p:nvPr>
            <p:ph type="title"/>
          </p:nvPr>
        </p:nvSpPr>
        <p:spPr>
          <a:xfrm>
            <a:off x="2589200" y="467735"/>
            <a:ext cx="8911800" cy="12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hu-HU"/>
              <a:t>Tesztek csoportosítása</a:t>
            </a:r>
            <a:endParaRPr/>
          </a:p>
        </p:txBody>
      </p:sp>
      <p:sp>
        <p:nvSpPr>
          <p:cNvPr id="332" name="Google Shape;332;p20"/>
          <p:cNvSpPr txBox="1"/>
          <p:nvPr>
            <p:ph idx="1" type="body"/>
          </p:nvPr>
        </p:nvSpPr>
        <p:spPr>
          <a:xfrm>
            <a:off x="1941512" y="1287200"/>
            <a:ext cx="8915400" cy="48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hu-HU"/>
              <a:t>A teszteket különféle szempontok szerint csoportosíthatjuk. Ilyenek lehetnek:</a:t>
            </a:r>
            <a:endParaRPr/>
          </a:p>
          <a:p>
            <a:pPr indent="-351472" lvl="0" marL="3429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</a:pPr>
            <a:r>
              <a:rPr lang="hu-HU"/>
              <a:t>Viselkedésük alapján</a:t>
            </a:r>
            <a:endParaRPr/>
          </a:p>
          <a:p>
            <a:pPr indent="-306069" lvl="1" marL="74295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hu-HU" sz="1800"/>
              <a:t>Statikus: csak a forráskódot elemzem, abban keresek hibákat. </a:t>
            </a:r>
            <a:endParaRPr sz="1800"/>
          </a:p>
          <a:p>
            <a:pPr indent="-306069" lvl="1" marL="74295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hu-HU" sz="1800"/>
              <a:t>Dinamikus: az alkalmazást működés közben elemzem</a:t>
            </a:r>
            <a:endParaRPr sz="1800"/>
          </a:p>
          <a:p>
            <a:pPr indent="0" lvl="1" marL="4572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hu-HU" sz="1800"/>
              <a:t>A kettő nem helyettesíti egymást, más jellegű hibákat tár fel!</a:t>
            </a:r>
            <a:endParaRPr sz="1800"/>
          </a:p>
          <a:p>
            <a:pPr indent="-351472" lvl="0" marL="3429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</a:pPr>
            <a:r>
              <a:rPr lang="hu-HU"/>
              <a:t>Környezet alapján</a:t>
            </a:r>
            <a:endParaRPr/>
          </a:p>
          <a:p>
            <a:pPr indent="-306069" lvl="1" marL="74295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hu-HU" sz="1800"/>
              <a:t>Blackbox: a tesztelő csak a bemeneti és kimeneti értékeket látja, azt hogy mi történik az alkalmazásban nem</a:t>
            </a:r>
            <a:endParaRPr sz="1800"/>
          </a:p>
          <a:p>
            <a:pPr indent="-306069" lvl="1" marL="74295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hu-HU" sz="1800"/>
              <a:t>Whitebox: a tesztelő ismeri a tesztelendő alkalmazás forráskódját, működését</a:t>
            </a:r>
            <a:endParaRPr sz="1800"/>
          </a:p>
          <a:p>
            <a:pPr indent="-306069" lvl="1" marL="74295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hu-HU" sz="1800"/>
              <a:t>Graybox: csak részben ismert a rendszer működése (pl. csak bizonyos komponenseket látunk, a többi rész Blackboxként van kezelve)</a:t>
            </a:r>
            <a:endParaRPr sz="1800"/>
          </a:p>
          <a:p>
            <a:pPr indent="-351472" lvl="0" marL="3429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</a:pPr>
            <a:r>
              <a:rPr lang="hu-HU"/>
              <a:t>Funkcionalitás alapján: funkcionális / nemfunkcionális</a:t>
            </a:r>
            <a:endParaRPr/>
          </a:p>
        </p:txBody>
      </p:sp>
      <p:sp>
        <p:nvSpPr>
          <p:cNvPr id="333" name="Google Shape;333;p20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/>
              <a:t>Készítette: Gyamati Gábor@BMSZC Neumann János Informatikai Technikum - 2023.09.10</a:t>
            </a:r>
            <a:endParaRPr/>
          </a:p>
        </p:txBody>
      </p:sp>
      <p:pic>
        <p:nvPicPr>
          <p:cNvPr descr="A képen fekete, sötétség látható&#10;&#10;Automatikusan generált leírás" id="334" name="Google Shape;33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9927" y="151827"/>
            <a:ext cx="634921" cy="6349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1"/>
          <p:cNvSpPr txBox="1"/>
          <p:nvPr>
            <p:ph type="ctrTitle"/>
          </p:nvPr>
        </p:nvSpPr>
        <p:spPr>
          <a:xfrm>
            <a:off x="2589212" y="2080621"/>
            <a:ext cx="8915399" cy="22627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Century Gothic"/>
              <a:buNone/>
            </a:pPr>
            <a:r>
              <a:rPr lang="hu-HU"/>
              <a:t>Köszönöm a figyelmet!</a:t>
            </a:r>
            <a:endParaRPr/>
          </a:p>
        </p:txBody>
      </p:sp>
      <p:sp>
        <p:nvSpPr>
          <p:cNvPr id="340" name="Google Shape;340;p21"/>
          <p:cNvSpPr txBox="1"/>
          <p:nvPr>
            <p:ph idx="1" type="subTitle"/>
          </p:nvPr>
        </p:nvSpPr>
        <p:spPr>
          <a:xfrm>
            <a:off x="2589213" y="4777379"/>
            <a:ext cx="8915399" cy="1126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hu-HU" sz="2000"/>
              <a:t>Jó tanulást és sikeres tesztelést kívánunk! ☺</a:t>
            </a:r>
            <a:endParaRPr sz="2000"/>
          </a:p>
        </p:txBody>
      </p:sp>
      <p:sp>
        <p:nvSpPr>
          <p:cNvPr id="341" name="Google Shape;341;p21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/>
              <a:t>Készítette: Gyamati Gábor@BMSZC Neumann János Informatikai Technikum - 2023.09.10</a:t>
            </a:r>
            <a:endParaRPr/>
          </a:p>
        </p:txBody>
      </p:sp>
      <p:pic>
        <p:nvPicPr>
          <p:cNvPr descr="A képen fekete, sötétség látható&#10;&#10;Automatikusan generált leírás" id="342" name="Google Shape;34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9927" y="151827"/>
            <a:ext cx="634921" cy="6349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zálak">
  <a:themeElements>
    <a:clrScheme name="Wisp">
      <a:dk1>
        <a:srgbClr val="000000"/>
      </a:dk1>
      <a:lt1>
        <a:srgbClr val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-téma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2023-09-10T09:10:14Z</dcterms:created>
  <dc:creator>Gyarmati Gábor</dc:creator>
</cp:coreProperties>
</file>