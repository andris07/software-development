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_rels/presentation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media/image1.png" ContentType="image/png"/>
  <Override PartName="/ppt/media/image2.png" ContentType="image/png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64176B2-ED05-4356-ACF9-11036B1FF62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hu-H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2589120" y="2514600"/>
            <a:ext cx="8914680" cy="226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u-H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6765BA7-1539-4CD4-A5B6-4BB27C5F0BF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hu-H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2589120" y="2514600"/>
            <a:ext cx="8914680" cy="226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u-H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76A73EC-58BB-4B51-A3F8-D6081E8DF8A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hu-H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2589120" y="2514600"/>
            <a:ext cx="8914680" cy="226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u-H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C8191AE-5277-4383-8C14-CFF363D9CC1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hu-H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2589120" y="2514600"/>
            <a:ext cx="8914680" cy="226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u-H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B467926-FE35-4D78-8AC5-64224408025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hu-H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ubTitle"/>
          </p:nvPr>
        </p:nvSpPr>
        <p:spPr>
          <a:xfrm>
            <a:off x="2589120" y="2514600"/>
            <a:ext cx="8914680" cy="104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0BD4B79-2105-4E8C-9528-D6FA5D93CFC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hu-H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2589120" y="2514600"/>
            <a:ext cx="8914680" cy="226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u-H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781F4A4-4456-4182-A237-4E56957A178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hu-H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2589120" y="2514600"/>
            <a:ext cx="8914680" cy="226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u-H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431F2D2-4C12-4F7E-A89B-1F0487D9229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hu-H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2589120" y="2514600"/>
            <a:ext cx="8914680" cy="226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u-H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2DB7E5D-7C4D-47F0-961B-B70B1EFE8AB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hu-H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2589120" y="2514600"/>
            <a:ext cx="8914680" cy="226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u-H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F31B3C0-978D-405F-9351-7CE2DC9CEF7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hu-H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2589120" y="2514600"/>
            <a:ext cx="8914680" cy="226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u-H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DB32111-0E26-494B-B28C-D861CFDD138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hu-H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2589120" y="2514600"/>
            <a:ext cx="8914680" cy="226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u-H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4B3FC08-6087-4899-894B-D7A599DA8CB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hu-HU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01BB97E-EE6A-46B0-A99F-94CDE7B0834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hu-HU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2589120" y="2514600"/>
            <a:ext cx="8914680" cy="226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u-H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2C11B30-DA6A-4F1A-8E75-55FF40472E1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hu-HU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2589120" y="2514600"/>
            <a:ext cx="8914680" cy="226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u-H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740E46A-9D05-419C-9F84-70592D06DB4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hu-HU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2589120" y="2514600"/>
            <a:ext cx="8914680" cy="226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u-H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4B7DB14-77A0-4265-8E1C-E868CB83A40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hu-HU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2589120" y="2514600"/>
            <a:ext cx="8914680" cy="226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u-H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1BA191B-5F26-46B3-A611-FF32F738ED7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hu-HU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subTitle"/>
          </p:nvPr>
        </p:nvSpPr>
        <p:spPr>
          <a:xfrm>
            <a:off x="2589120" y="2514600"/>
            <a:ext cx="8914680" cy="104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65F3218-9AAD-4837-95B2-C655C3B24B6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hu-HU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2589120" y="2514600"/>
            <a:ext cx="8914680" cy="226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u-H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DA78078-923B-4755-930F-6A8FB0EB548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hu-HU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2589120" y="2514600"/>
            <a:ext cx="8914680" cy="226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u-H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D0B46A9-5F46-4AFF-B4E7-4E5A2B2F69A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hu-HU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2589120" y="2514600"/>
            <a:ext cx="8914680" cy="226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u-H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99D3E45-8590-4E3D-9532-64EA4945894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hu-HU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2589120" y="2514600"/>
            <a:ext cx="8914680" cy="226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u-H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C86AC1D-CC47-4C21-885C-CEF32935063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hu-HU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2589120" y="2514600"/>
            <a:ext cx="8914680" cy="226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u-H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BD850D8-735D-4B5F-B752-6CFCA686753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hu-HU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2589120" y="2514600"/>
            <a:ext cx="8914680" cy="226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u-H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116D39C-C65F-44C6-A61F-636ECAED46F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hu-HU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E4E167D7-0D8E-4980-9963-55E8E6A7EEB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hu-HU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2589120" y="2514600"/>
            <a:ext cx="8914680" cy="226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u-H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BB0E19FE-DF65-4875-B938-52E9564CB3D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hu-HU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2589120" y="2514600"/>
            <a:ext cx="8914680" cy="226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u-H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25D444E0-6F18-4948-B70D-265C1DFE5E9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hu-HU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2589120" y="2514600"/>
            <a:ext cx="8914680" cy="226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u-H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961AD92-39A3-4DC1-836C-31CB93F7BDC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hu-HU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2589120" y="2514600"/>
            <a:ext cx="8914680" cy="226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u-H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AE73733-F1BD-4DB7-A2BF-83DC3A7DEDF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hu-HU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ubTitle"/>
          </p:nvPr>
        </p:nvSpPr>
        <p:spPr>
          <a:xfrm>
            <a:off x="2589120" y="2514600"/>
            <a:ext cx="8914680" cy="104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4424F798-6EA6-4D78-ABA5-69C8D2B485E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hu-HU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2589120" y="2514600"/>
            <a:ext cx="8914680" cy="226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u-H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C917160-1C65-4F11-895E-524691F04CA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hu-HU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2589120" y="2514600"/>
            <a:ext cx="8914680" cy="226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u-H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A5B027E4-4EF2-4059-9B6D-A57013531DB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hu-HU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2589120" y="2514600"/>
            <a:ext cx="8914680" cy="226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u-H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404511DA-917F-49DB-B51B-3928C459D91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hu-HU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2589120" y="2514600"/>
            <a:ext cx="8914680" cy="226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u-H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BC8FACB-8946-46FE-BC52-438A1C8AFED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hu-HU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2589120" y="2514600"/>
            <a:ext cx="8914680" cy="226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u-H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57A7835-F7F3-4795-B4D3-140B31806B3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hu-HU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2589120" y="2514600"/>
            <a:ext cx="8914680" cy="226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u-H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F5601B89-0878-404C-B719-8983C3A88EF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hu-HU"/>
              <a:t/>
            </a: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5DEF237-BB96-41FB-BD70-7A5258B14D7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hu-HU"/>
              <a:t/>
            </a: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2589120" y="2514600"/>
            <a:ext cx="8914680" cy="226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u-H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252C705-4C00-460A-BC6D-40B3C1C632D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hu-HU"/>
              <a:t/>
            </a: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2589120" y="2514600"/>
            <a:ext cx="8914680" cy="226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u-H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8F150D9-C678-477E-9E21-8D2A4C29739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hu-HU"/>
              <a:t/>
            </a: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2589120" y="2514600"/>
            <a:ext cx="8914680" cy="226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u-H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8CD72FC-E683-48A2-90F7-DECCB9522F6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hu-HU"/>
              <a:t/>
            </a: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2589120" y="2514600"/>
            <a:ext cx="8914680" cy="226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u-H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7B3BE57-359C-4636-A920-ABD7AFC6B67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hu-HU"/>
              <a:t/>
            </a: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ubTitle"/>
          </p:nvPr>
        </p:nvSpPr>
        <p:spPr>
          <a:xfrm>
            <a:off x="2589120" y="2514600"/>
            <a:ext cx="8914680" cy="104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542B76E-FDA2-4A0B-A30F-E9B95726C6A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hu-HU"/>
              <a:t/>
            </a: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2589120" y="2514600"/>
            <a:ext cx="8914680" cy="226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u-H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FC225451-AD47-4E44-8D1D-AAE8A62EEB3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hu-HU"/>
              <a:t/>
            </a: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2589120" y="2514600"/>
            <a:ext cx="8914680" cy="226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u-H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13B4581-0B26-4836-9A14-4F1300C9171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hu-HU"/>
              <a:t/>
            </a: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title"/>
          </p:nvPr>
        </p:nvSpPr>
        <p:spPr>
          <a:xfrm>
            <a:off x="2589120" y="2514600"/>
            <a:ext cx="8914680" cy="226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u-H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9782D05-12FA-471E-8EB8-0D1FBB1AEE4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hu-HU"/>
              <a:t/>
            </a: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2589120" y="2514600"/>
            <a:ext cx="8914680" cy="226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u-H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1FF2A0F-54CB-48B3-A090-6AC55BE530E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hu-HU"/>
              <a:t/>
            </a: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2589120" y="2514600"/>
            <a:ext cx="8914680" cy="226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u-H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FE3532C5-85DC-4FCE-B4ED-1B175BED9CD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hu-HU"/>
              <a:t/>
            </a: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2589120" y="2514600"/>
            <a:ext cx="8914680" cy="226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u-H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F93F20F-88F8-459D-B7F8-5C3024D2E73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hu-H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roup 22"/>
          <p:cNvGrpSpPr/>
          <p:nvPr/>
        </p:nvGrpSpPr>
        <p:grpSpPr>
          <a:xfrm>
            <a:off x="0" y="228600"/>
            <a:ext cx="2850840" cy="6638040"/>
            <a:chOff x="0" y="228600"/>
            <a:chExt cx="2850840" cy="6638040"/>
          </a:xfrm>
        </p:grpSpPr>
        <p:sp>
          <p:nvSpPr>
            <p:cNvPr id="1" name="Freeform 11"/>
            <p:cNvSpPr/>
            <p:nvPr/>
          </p:nvSpPr>
          <p:spPr>
            <a:xfrm>
              <a:off x="0" y="2575080"/>
              <a:ext cx="100080" cy="625320"/>
            </a:xfrm>
            <a:custGeom>
              <a:avLst/>
              <a:gdLst>
                <a:gd name="textAreaLeft" fmla="*/ 0 w 100080"/>
                <a:gd name="textAreaRight" fmla="*/ 100800 w 100080"/>
                <a:gd name="textAreaTop" fmla="*/ 0 h 625320"/>
                <a:gd name="textAreaBottom" fmla="*/ 626040 h 625320"/>
              </a:gdLst>
              <a:ah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hu-HU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" name="Freeform 12"/>
            <p:cNvSpPr/>
            <p:nvPr/>
          </p:nvSpPr>
          <p:spPr>
            <a:xfrm>
              <a:off x="128520" y="3156480"/>
              <a:ext cx="645840" cy="2321640"/>
            </a:xfrm>
            <a:custGeom>
              <a:avLst/>
              <a:gdLst>
                <a:gd name="textAreaLeft" fmla="*/ 0 w 645840"/>
                <a:gd name="textAreaRight" fmla="*/ 646560 w 645840"/>
                <a:gd name="textAreaTop" fmla="*/ 0 h 2321640"/>
                <a:gd name="textAreaBottom" fmla="*/ 2322360 h 2321640"/>
              </a:gdLst>
              <a:ah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hu-HU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" name="Freeform 13"/>
            <p:cNvSpPr/>
            <p:nvPr/>
          </p:nvSpPr>
          <p:spPr>
            <a:xfrm>
              <a:off x="807120" y="5447160"/>
              <a:ext cx="608760" cy="1419480"/>
            </a:xfrm>
            <a:custGeom>
              <a:avLst/>
              <a:gdLst>
                <a:gd name="textAreaLeft" fmla="*/ 0 w 608760"/>
                <a:gd name="textAreaRight" fmla="*/ 609480 w 608760"/>
                <a:gd name="textAreaTop" fmla="*/ 0 h 1419480"/>
                <a:gd name="textAreaBottom" fmla="*/ 1420200 h 1419480"/>
              </a:gdLst>
              <a:ah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hu-HU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" name="Freeform 14"/>
            <p:cNvSpPr/>
            <p:nvPr/>
          </p:nvSpPr>
          <p:spPr>
            <a:xfrm>
              <a:off x="959760" y="6503760"/>
              <a:ext cx="170640" cy="362880"/>
            </a:xfrm>
            <a:custGeom>
              <a:avLst/>
              <a:gdLst>
                <a:gd name="textAreaLeft" fmla="*/ 0 w 170640"/>
                <a:gd name="textAreaRight" fmla="*/ 171360 w 170640"/>
                <a:gd name="textAreaTop" fmla="*/ 0 h 362880"/>
                <a:gd name="textAreaBottom" fmla="*/ 363600 h 362880"/>
              </a:gdLst>
              <a:ah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hu-HU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" name="Freeform 15"/>
            <p:cNvSpPr/>
            <p:nvPr/>
          </p:nvSpPr>
          <p:spPr>
            <a:xfrm>
              <a:off x="100800" y="3201120"/>
              <a:ext cx="821160" cy="3327840"/>
            </a:xfrm>
            <a:custGeom>
              <a:avLst/>
              <a:gdLst>
                <a:gd name="textAreaLeft" fmla="*/ 0 w 821160"/>
                <a:gd name="textAreaRight" fmla="*/ 821880 w 821160"/>
                <a:gd name="textAreaTop" fmla="*/ 0 h 3327840"/>
                <a:gd name="textAreaBottom" fmla="*/ 3328560 h 3327840"/>
              </a:gdLst>
              <a:ah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hu-HU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" name="Freeform 16"/>
            <p:cNvSpPr/>
            <p:nvPr/>
          </p:nvSpPr>
          <p:spPr>
            <a:xfrm>
              <a:off x="22320" y="228600"/>
              <a:ext cx="105480" cy="2927160"/>
            </a:xfrm>
            <a:custGeom>
              <a:avLst/>
              <a:gdLst>
                <a:gd name="textAreaLeft" fmla="*/ 0 w 105480"/>
                <a:gd name="textAreaRight" fmla="*/ 106200 w 105480"/>
                <a:gd name="textAreaTop" fmla="*/ 0 h 2927160"/>
                <a:gd name="textAreaBottom" fmla="*/ 2927880 h 2927160"/>
              </a:gdLst>
              <a:ah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hu-HU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" name="Freeform 17"/>
            <p:cNvSpPr/>
            <p:nvPr/>
          </p:nvSpPr>
          <p:spPr>
            <a:xfrm>
              <a:off x="78120" y="2944080"/>
              <a:ext cx="77400" cy="493200"/>
            </a:xfrm>
            <a:custGeom>
              <a:avLst/>
              <a:gdLst>
                <a:gd name="textAreaLeft" fmla="*/ 0 w 77400"/>
                <a:gd name="textAreaRight" fmla="*/ 78120 w 77400"/>
                <a:gd name="textAreaTop" fmla="*/ 0 h 493200"/>
                <a:gd name="textAreaBottom" fmla="*/ 493920 h 493200"/>
              </a:gdLst>
              <a:ah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hu-HU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8" name="Freeform 18"/>
            <p:cNvSpPr/>
            <p:nvPr/>
          </p:nvSpPr>
          <p:spPr>
            <a:xfrm>
              <a:off x="769680" y="5478840"/>
              <a:ext cx="189360" cy="1024200"/>
            </a:xfrm>
            <a:custGeom>
              <a:avLst/>
              <a:gdLst>
                <a:gd name="textAreaLeft" fmla="*/ 0 w 189360"/>
                <a:gd name="textAreaRight" fmla="*/ 190080 w 189360"/>
                <a:gd name="textAreaTop" fmla="*/ 0 h 1024200"/>
                <a:gd name="textAreaBottom" fmla="*/ 1024920 h 1024200"/>
              </a:gdLst>
              <a:ah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hu-HU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9" name="Freeform 19"/>
            <p:cNvSpPr/>
            <p:nvPr/>
          </p:nvSpPr>
          <p:spPr>
            <a:xfrm>
              <a:off x="775440" y="1398960"/>
              <a:ext cx="2075400" cy="4047480"/>
            </a:xfrm>
            <a:custGeom>
              <a:avLst/>
              <a:gdLst>
                <a:gd name="textAreaLeft" fmla="*/ 0 w 2075400"/>
                <a:gd name="textAreaRight" fmla="*/ 2076120 w 2075400"/>
                <a:gd name="textAreaTop" fmla="*/ 0 h 4047480"/>
                <a:gd name="textAreaBottom" fmla="*/ 4048200 h 4047480"/>
              </a:gdLst>
              <a:ah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hu-HU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" name="Freeform 20"/>
            <p:cNvSpPr/>
            <p:nvPr/>
          </p:nvSpPr>
          <p:spPr>
            <a:xfrm>
              <a:off x="922680" y="6530040"/>
              <a:ext cx="161280" cy="336600"/>
            </a:xfrm>
            <a:custGeom>
              <a:avLst/>
              <a:gdLst>
                <a:gd name="textAreaLeft" fmla="*/ 0 w 161280"/>
                <a:gd name="textAreaRight" fmla="*/ 162000 w 161280"/>
                <a:gd name="textAreaTop" fmla="*/ 0 h 336600"/>
                <a:gd name="textAreaBottom" fmla="*/ 337320 h 336600"/>
              </a:gdLst>
              <a:ah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hu-HU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" name="Freeform 21"/>
            <p:cNvSpPr/>
            <p:nvPr/>
          </p:nvSpPr>
          <p:spPr>
            <a:xfrm>
              <a:off x="769680" y="5359320"/>
              <a:ext cx="36720" cy="221040"/>
            </a:xfrm>
            <a:custGeom>
              <a:avLst/>
              <a:gdLst>
                <a:gd name="textAreaLeft" fmla="*/ 0 w 36720"/>
                <a:gd name="textAreaRight" fmla="*/ 37440 w 36720"/>
                <a:gd name="textAreaTop" fmla="*/ 0 h 221040"/>
                <a:gd name="textAreaBottom" fmla="*/ 221760 h 221040"/>
              </a:gdLst>
              <a:ah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hu-HU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" name="Freeform 22"/>
            <p:cNvSpPr/>
            <p:nvPr/>
          </p:nvSpPr>
          <p:spPr>
            <a:xfrm>
              <a:off x="849960" y="6244560"/>
              <a:ext cx="237960" cy="621720"/>
            </a:xfrm>
            <a:custGeom>
              <a:avLst/>
              <a:gdLst>
                <a:gd name="textAreaLeft" fmla="*/ 0 w 237960"/>
                <a:gd name="textAreaRight" fmla="*/ 238680 w 237960"/>
                <a:gd name="textAreaTop" fmla="*/ 0 h 621720"/>
                <a:gd name="textAreaBottom" fmla="*/ 622440 h 621720"/>
              </a:gdLst>
              <a:ah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hu-HU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13" name="Group 9"/>
          <p:cNvGrpSpPr/>
          <p:nvPr/>
        </p:nvGrpSpPr>
        <p:grpSpPr>
          <a:xfrm>
            <a:off x="27360" y="-720"/>
            <a:ext cx="2355840" cy="6853320"/>
            <a:chOff x="27360" y="-720"/>
            <a:chExt cx="2355840" cy="6853320"/>
          </a:xfrm>
        </p:grpSpPr>
        <p:sp>
          <p:nvSpPr>
            <p:cNvPr id="14" name="Freeform 27"/>
            <p:cNvSpPr/>
            <p:nvPr/>
          </p:nvSpPr>
          <p:spPr>
            <a:xfrm>
              <a:off x="27360" y="-720"/>
              <a:ext cx="493560" cy="4400280"/>
            </a:xfrm>
            <a:custGeom>
              <a:avLst/>
              <a:gdLst>
                <a:gd name="textAreaLeft" fmla="*/ 0 w 493560"/>
                <a:gd name="textAreaRight" fmla="*/ 494280 w 493560"/>
                <a:gd name="textAreaTop" fmla="*/ 0 h 4400280"/>
                <a:gd name="textAreaBottom" fmla="*/ 4401000 h 4400280"/>
              </a:gdLst>
              <a:ah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hu-HU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5" name="Freeform 28"/>
            <p:cNvSpPr/>
            <p:nvPr/>
          </p:nvSpPr>
          <p:spPr>
            <a:xfrm>
              <a:off x="550440" y="4316400"/>
              <a:ext cx="422640" cy="1580040"/>
            </a:xfrm>
            <a:custGeom>
              <a:avLst/>
              <a:gdLst>
                <a:gd name="textAreaLeft" fmla="*/ 0 w 422640"/>
                <a:gd name="textAreaRight" fmla="*/ 423360 w 422640"/>
                <a:gd name="textAreaTop" fmla="*/ 0 h 1580040"/>
                <a:gd name="textAreaBottom" fmla="*/ 1580760 h 1580040"/>
              </a:gdLst>
              <a:ah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hu-HU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6" name="Freeform 29"/>
            <p:cNvSpPr/>
            <p:nvPr/>
          </p:nvSpPr>
          <p:spPr>
            <a:xfrm>
              <a:off x="1006200" y="5862600"/>
              <a:ext cx="430200" cy="990000"/>
            </a:xfrm>
            <a:custGeom>
              <a:avLst/>
              <a:gdLst>
                <a:gd name="textAreaLeft" fmla="*/ 0 w 430200"/>
                <a:gd name="textAreaRight" fmla="*/ 430920 w 430200"/>
                <a:gd name="textAreaTop" fmla="*/ 0 h 990000"/>
                <a:gd name="textAreaBottom" fmla="*/ 990720 h 990000"/>
              </a:gdLst>
              <a:ah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hu-HU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7" name="Freeform 30"/>
            <p:cNvSpPr/>
            <p:nvPr/>
          </p:nvSpPr>
          <p:spPr>
            <a:xfrm>
              <a:off x="521640" y="4364280"/>
              <a:ext cx="551160" cy="2235240"/>
            </a:xfrm>
            <a:custGeom>
              <a:avLst/>
              <a:gdLst>
                <a:gd name="textAreaLeft" fmla="*/ 0 w 551160"/>
                <a:gd name="textAreaRight" fmla="*/ 551880 w 551160"/>
                <a:gd name="textAreaTop" fmla="*/ 0 h 2235240"/>
                <a:gd name="textAreaBottom" fmla="*/ 2235960 h 2235240"/>
              </a:gdLst>
              <a:ah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hu-HU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8" name="Freeform 31"/>
            <p:cNvSpPr/>
            <p:nvPr/>
          </p:nvSpPr>
          <p:spPr>
            <a:xfrm>
              <a:off x="468000" y="1289160"/>
              <a:ext cx="173520" cy="3026520"/>
            </a:xfrm>
            <a:custGeom>
              <a:avLst/>
              <a:gdLst>
                <a:gd name="textAreaLeft" fmla="*/ 0 w 173520"/>
                <a:gd name="textAreaRight" fmla="*/ 174240 w 173520"/>
                <a:gd name="textAreaTop" fmla="*/ 0 h 3026520"/>
                <a:gd name="textAreaBottom" fmla="*/ 3027240 h 3026520"/>
              </a:gdLst>
              <a:ah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hu-HU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" name="Freeform 32"/>
            <p:cNvSpPr/>
            <p:nvPr/>
          </p:nvSpPr>
          <p:spPr>
            <a:xfrm>
              <a:off x="1111680" y="6571440"/>
              <a:ext cx="133560" cy="280800"/>
            </a:xfrm>
            <a:custGeom>
              <a:avLst/>
              <a:gdLst>
                <a:gd name="textAreaLeft" fmla="*/ 0 w 133560"/>
                <a:gd name="textAreaRight" fmla="*/ 134280 w 133560"/>
                <a:gd name="textAreaTop" fmla="*/ 0 h 280800"/>
                <a:gd name="textAreaBottom" fmla="*/ 281520 h 280800"/>
              </a:gdLst>
              <a:ah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hu-HU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" name="Freeform 33"/>
            <p:cNvSpPr/>
            <p:nvPr/>
          </p:nvSpPr>
          <p:spPr>
            <a:xfrm>
              <a:off x="502560" y="4107600"/>
              <a:ext cx="81720" cy="510840"/>
            </a:xfrm>
            <a:custGeom>
              <a:avLst/>
              <a:gdLst>
                <a:gd name="textAreaLeft" fmla="*/ 0 w 81720"/>
                <a:gd name="textAreaRight" fmla="*/ 82440 w 81720"/>
                <a:gd name="textAreaTop" fmla="*/ 0 h 510840"/>
                <a:gd name="textAreaBottom" fmla="*/ 511560 h 510840"/>
              </a:gdLst>
              <a:ah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hu-HU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" name="Freeform 34"/>
            <p:cNvSpPr/>
            <p:nvPr/>
          </p:nvSpPr>
          <p:spPr>
            <a:xfrm>
              <a:off x="973800" y="3145680"/>
              <a:ext cx="1409400" cy="2716200"/>
            </a:xfrm>
            <a:custGeom>
              <a:avLst/>
              <a:gdLst>
                <a:gd name="textAreaLeft" fmla="*/ 0 w 1409400"/>
                <a:gd name="textAreaRight" fmla="*/ 1410120 w 1409400"/>
                <a:gd name="textAreaTop" fmla="*/ 0 h 2716200"/>
                <a:gd name="textAreaBottom" fmla="*/ 2716920 h 2716200"/>
              </a:gdLst>
              <a:ah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hu-HU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" name="Freeform 35"/>
            <p:cNvSpPr/>
            <p:nvPr/>
          </p:nvSpPr>
          <p:spPr>
            <a:xfrm>
              <a:off x="1073520" y="6600240"/>
              <a:ext cx="119880" cy="252360"/>
            </a:xfrm>
            <a:custGeom>
              <a:avLst/>
              <a:gdLst>
                <a:gd name="textAreaLeft" fmla="*/ 0 w 119880"/>
                <a:gd name="textAreaRight" fmla="*/ 120600 w 119880"/>
                <a:gd name="textAreaTop" fmla="*/ 0 h 252360"/>
                <a:gd name="textAreaBottom" fmla="*/ 253080 h 252360"/>
              </a:gdLst>
              <a:ah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hu-HU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3" name="Freeform 36"/>
            <p:cNvSpPr/>
            <p:nvPr/>
          </p:nvSpPr>
          <p:spPr>
            <a:xfrm>
              <a:off x="973800" y="5897160"/>
              <a:ext cx="137160" cy="673560"/>
            </a:xfrm>
            <a:custGeom>
              <a:avLst/>
              <a:gdLst>
                <a:gd name="textAreaLeft" fmla="*/ 0 w 137160"/>
                <a:gd name="textAreaRight" fmla="*/ 137880 w 137160"/>
                <a:gd name="textAreaTop" fmla="*/ 0 h 673560"/>
                <a:gd name="textAreaBottom" fmla="*/ 674280 h 673560"/>
              </a:gdLst>
              <a:ah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hu-HU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4" name="Freeform 37"/>
            <p:cNvSpPr/>
            <p:nvPr/>
          </p:nvSpPr>
          <p:spPr>
            <a:xfrm>
              <a:off x="973800" y="5772600"/>
              <a:ext cx="37440" cy="227160"/>
            </a:xfrm>
            <a:custGeom>
              <a:avLst/>
              <a:gdLst>
                <a:gd name="textAreaLeft" fmla="*/ 0 w 37440"/>
                <a:gd name="textAreaRight" fmla="*/ 38160 w 37440"/>
                <a:gd name="textAreaTop" fmla="*/ 0 h 227160"/>
                <a:gd name="textAreaBottom" fmla="*/ 227880 h 227160"/>
              </a:gdLst>
              <a:ah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hu-HU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5" name="Freeform 38"/>
            <p:cNvSpPr/>
            <p:nvPr/>
          </p:nvSpPr>
          <p:spPr>
            <a:xfrm>
              <a:off x="1006200" y="6322680"/>
              <a:ext cx="209880" cy="529920"/>
            </a:xfrm>
            <a:custGeom>
              <a:avLst/>
              <a:gdLst>
                <a:gd name="textAreaLeft" fmla="*/ 0 w 209880"/>
                <a:gd name="textAreaRight" fmla="*/ 210600 w 209880"/>
                <a:gd name="textAreaTop" fmla="*/ 0 h 529920"/>
                <a:gd name="textAreaBottom" fmla="*/ 530640 h 529920"/>
              </a:gdLst>
              <a:ah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hu-HU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26" name="Rectangle 6"/>
          <p:cNvSpPr/>
          <p:nvPr/>
        </p:nvSpPr>
        <p:spPr>
          <a:xfrm>
            <a:off x="0" y="0"/>
            <a:ext cx="182160" cy="685728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hu-HU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" name="Freeform 6"/>
          <p:cNvSpPr/>
          <p:nvPr/>
        </p:nvSpPr>
        <p:spPr>
          <a:xfrm>
            <a:off x="0" y="4323960"/>
            <a:ext cx="1743840" cy="777960"/>
          </a:xfrm>
          <a:custGeom>
            <a:avLst/>
            <a:gdLst>
              <a:gd name="textAreaLeft" fmla="*/ 0 w 1743840"/>
              <a:gd name="textAreaRight" fmla="*/ 1744560 w 1743840"/>
              <a:gd name="textAreaTop" fmla="*/ 0 h 777960"/>
              <a:gd name="textAreaBottom" fmla="*/ 778680 h 777960"/>
            </a:gdLst>
            <a:ahLst/>
            <a:rect l="textAreaLeft" t="textAreaTop" r="textAreaRight" b="textAreaBottom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hu-HU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2589120" y="2514600"/>
            <a:ext cx="8914680" cy="226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hu-HU" sz="1800" spc="-1" strike="noStrike">
                <a:solidFill>
                  <a:srgbClr val="000000"/>
                </a:solidFill>
                <a:latin typeface="Arial"/>
              </a:rPr>
              <a:t>Címszöveg formátumának szerkesztése</a:t>
            </a:r>
            <a:endParaRPr b="0" lang="hu-H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ftr" idx="1"/>
          </p:nvPr>
        </p:nvSpPr>
        <p:spPr>
          <a:xfrm>
            <a:off x="2589120" y="6135840"/>
            <a:ext cx="76194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8b8b8b"/>
                </a:solidFill>
                <a:latin typeface="Century Gothic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8b8b8b"/>
                </a:solidFill>
                <a:latin typeface="Century Gothic"/>
              </a:rPr>
              <a:t>&lt;élőláb&gt;</a:t>
            </a:r>
            <a:endParaRPr b="0" lang="hu-HU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sldNum" idx="2"/>
          </p:nvPr>
        </p:nvSpPr>
        <p:spPr>
          <a:xfrm>
            <a:off x="531720" y="4529520"/>
            <a:ext cx="77904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5F29EF4-9F0E-432A-B989-42FBFAA96B77}" type="slidenum">
              <a:rPr b="0" lang="en-US" sz="2000" spc="-1" strike="noStrike">
                <a:solidFill>
                  <a:srgbClr val="feffff"/>
                </a:solidFill>
                <a:latin typeface="Century Gothic"/>
              </a:rPr>
              <a:t>&lt;szám&gt;</a:t>
            </a:fld>
            <a:endParaRPr b="0" lang="hu-HU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3"/>
          </p:nvPr>
        </p:nvSpPr>
        <p:spPr>
          <a:xfrm>
            <a:off x="10361520" y="6130440"/>
            <a:ext cx="1145520" cy="369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hu-H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hu-HU" sz="1400" spc="-1" strike="noStrike">
                <a:solidFill>
                  <a:srgbClr val="000000"/>
                </a:solidFill>
                <a:latin typeface="Times New Roman"/>
              </a:rPr>
              <a:t>&lt;dátum/idő&gt;</a:t>
            </a:r>
            <a:endParaRPr b="0" lang="hu-H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u-HU" sz="3200" spc="-1" strike="noStrike">
                <a:solidFill>
                  <a:srgbClr val="000000"/>
                </a:solidFill>
                <a:latin typeface="Arial"/>
              </a:rPr>
              <a:t>Vázlatszöveg formátumának szerkesztése</a:t>
            </a: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hu-HU" sz="2800" spc="-1" strike="noStrike">
                <a:solidFill>
                  <a:srgbClr val="000000"/>
                </a:solidFill>
                <a:latin typeface="Arial"/>
              </a:rPr>
              <a:t>Második vázlatszint</a:t>
            </a:r>
            <a:endParaRPr b="0" lang="hu-H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u-HU" sz="2400" spc="-1" strike="noStrike">
                <a:solidFill>
                  <a:srgbClr val="000000"/>
                </a:solidFill>
                <a:latin typeface="Arial"/>
              </a:rPr>
              <a:t>Harmadik vázlatszint</a:t>
            </a:r>
            <a:endParaRPr b="0" lang="hu-H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hu-HU" sz="2000" spc="-1" strike="noStrike">
                <a:solidFill>
                  <a:srgbClr val="000000"/>
                </a:solidFill>
                <a:latin typeface="Arial"/>
              </a:rPr>
              <a:t>Negyedik vázlatszint</a:t>
            </a:r>
            <a:endParaRPr b="0" lang="hu-H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u-HU" sz="2000" spc="-1" strike="noStrike">
                <a:solidFill>
                  <a:srgbClr val="000000"/>
                </a:solidFill>
                <a:latin typeface="Arial"/>
              </a:rPr>
              <a:t>Ötödik vázlatszint</a:t>
            </a:r>
            <a:endParaRPr b="0" lang="hu-H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u-HU" sz="2000" spc="-1" strike="noStrike">
                <a:solidFill>
                  <a:srgbClr val="000000"/>
                </a:solidFill>
                <a:latin typeface="Arial"/>
              </a:rPr>
              <a:t>Hatodik vázlatszint</a:t>
            </a:r>
            <a:endParaRPr b="0" lang="hu-H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u-HU" sz="2000" spc="-1" strike="noStrike">
                <a:solidFill>
                  <a:srgbClr val="000000"/>
                </a:solidFill>
                <a:latin typeface="Arial"/>
              </a:rPr>
              <a:t>Hetedik vázlatszint</a:t>
            </a:r>
            <a:endParaRPr b="0" lang="hu-H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roup 22"/>
          <p:cNvGrpSpPr/>
          <p:nvPr/>
        </p:nvGrpSpPr>
        <p:grpSpPr>
          <a:xfrm>
            <a:off x="0" y="228600"/>
            <a:ext cx="2850840" cy="6638040"/>
            <a:chOff x="0" y="228600"/>
            <a:chExt cx="2850840" cy="6638040"/>
          </a:xfrm>
        </p:grpSpPr>
        <p:sp>
          <p:nvSpPr>
            <p:cNvPr id="70" name="Freeform 11"/>
            <p:cNvSpPr/>
            <p:nvPr/>
          </p:nvSpPr>
          <p:spPr>
            <a:xfrm>
              <a:off x="0" y="2575080"/>
              <a:ext cx="100080" cy="625320"/>
            </a:xfrm>
            <a:custGeom>
              <a:avLst/>
              <a:gdLst>
                <a:gd name="textAreaLeft" fmla="*/ 0 w 100080"/>
                <a:gd name="textAreaRight" fmla="*/ 100800 w 100080"/>
                <a:gd name="textAreaTop" fmla="*/ 0 h 625320"/>
                <a:gd name="textAreaBottom" fmla="*/ 626040 h 625320"/>
              </a:gdLst>
              <a:ah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hu-HU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1" name="Freeform 12"/>
            <p:cNvSpPr/>
            <p:nvPr/>
          </p:nvSpPr>
          <p:spPr>
            <a:xfrm>
              <a:off x="128520" y="3156480"/>
              <a:ext cx="645840" cy="2321640"/>
            </a:xfrm>
            <a:custGeom>
              <a:avLst/>
              <a:gdLst>
                <a:gd name="textAreaLeft" fmla="*/ 0 w 645840"/>
                <a:gd name="textAreaRight" fmla="*/ 646560 w 645840"/>
                <a:gd name="textAreaTop" fmla="*/ 0 h 2321640"/>
                <a:gd name="textAreaBottom" fmla="*/ 2322360 h 2321640"/>
              </a:gdLst>
              <a:ah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hu-HU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2" name="Freeform 13"/>
            <p:cNvSpPr/>
            <p:nvPr/>
          </p:nvSpPr>
          <p:spPr>
            <a:xfrm>
              <a:off x="807120" y="5447160"/>
              <a:ext cx="608760" cy="1419480"/>
            </a:xfrm>
            <a:custGeom>
              <a:avLst/>
              <a:gdLst>
                <a:gd name="textAreaLeft" fmla="*/ 0 w 608760"/>
                <a:gd name="textAreaRight" fmla="*/ 609480 w 608760"/>
                <a:gd name="textAreaTop" fmla="*/ 0 h 1419480"/>
                <a:gd name="textAreaBottom" fmla="*/ 1420200 h 1419480"/>
              </a:gdLst>
              <a:ah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hu-HU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3" name="Freeform 14"/>
            <p:cNvSpPr/>
            <p:nvPr/>
          </p:nvSpPr>
          <p:spPr>
            <a:xfrm>
              <a:off x="959760" y="6503760"/>
              <a:ext cx="170640" cy="362880"/>
            </a:xfrm>
            <a:custGeom>
              <a:avLst/>
              <a:gdLst>
                <a:gd name="textAreaLeft" fmla="*/ 0 w 170640"/>
                <a:gd name="textAreaRight" fmla="*/ 171360 w 170640"/>
                <a:gd name="textAreaTop" fmla="*/ 0 h 362880"/>
                <a:gd name="textAreaBottom" fmla="*/ 363600 h 362880"/>
              </a:gdLst>
              <a:ah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hu-HU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4" name="Freeform 15"/>
            <p:cNvSpPr/>
            <p:nvPr/>
          </p:nvSpPr>
          <p:spPr>
            <a:xfrm>
              <a:off x="100800" y="3201120"/>
              <a:ext cx="821160" cy="3327840"/>
            </a:xfrm>
            <a:custGeom>
              <a:avLst/>
              <a:gdLst>
                <a:gd name="textAreaLeft" fmla="*/ 0 w 821160"/>
                <a:gd name="textAreaRight" fmla="*/ 821880 w 821160"/>
                <a:gd name="textAreaTop" fmla="*/ 0 h 3327840"/>
                <a:gd name="textAreaBottom" fmla="*/ 3328560 h 3327840"/>
              </a:gdLst>
              <a:ah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hu-HU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5" name="Freeform 16"/>
            <p:cNvSpPr/>
            <p:nvPr/>
          </p:nvSpPr>
          <p:spPr>
            <a:xfrm>
              <a:off x="22320" y="228600"/>
              <a:ext cx="105480" cy="2927160"/>
            </a:xfrm>
            <a:custGeom>
              <a:avLst/>
              <a:gdLst>
                <a:gd name="textAreaLeft" fmla="*/ 0 w 105480"/>
                <a:gd name="textAreaRight" fmla="*/ 106200 w 105480"/>
                <a:gd name="textAreaTop" fmla="*/ 0 h 2927160"/>
                <a:gd name="textAreaBottom" fmla="*/ 2927880 h 2927160"/>
              </a:gdLst>
              <a:ah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hu-HU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6" name="Freeform 17"/>
            <p:cNvSpPr/>
            <p:nvPr/>
          </p:nvSpPr>
          <p:spPr>
            <a:xfrm>
              <a:off x="78120" y="2944080"/>
              <a:ext cx="77400" cy="493200"/>
            </a:xfrm>
            <a:custGeom>
              <a:avLst/>
              <a:gdLst>
                <a:gd name="textAreaLeft" fmla="*/ 0 w 77400"/>
                <a:gd name="textAreaRight" fmla="*/ 78120 w 77400"/>
                <a:gd name="textAreaTop" fmla="*/ 0 h 493200"/>
                <a:gd name="textAreaBottom" fmla="*/ 493920 h 493200"/>
              </a:gdLst>
              <a:ah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hu-HU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7" name="Freeform 18"/>
            <p:cNvSpPr/>
            <p:nvPr/>
          </p:nvSpPr>
          <p:spPr>
            <a:xfrm>
              <a:off x="769680" y="5478840"/>
              <a:ext cx="189360" cy="1024200"/>
            </a:xfrm>
            <a:custGeom>
              <a:avLst/>
              <a:gdLst>
                <a:gd name="textAreaLeft" fmla="*/ 0 w 189360"/>
                <a:gd name="textAreaRight" fmla="*/ 190080 w 189360"/>
                <a:gd name="textAreaTop" fmla="*/ 0 h 1024200"/>
                <a:gd name="textAreaBottom" fmla="*/ 1024920 h 1024200"/>
              </a:gdLst>
              <a:ah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hu-HU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8" name="Freeform 19"/>
            <p:cNvSpPr/>
            <p:nvPr/>
          </p:nvSpPr>
          <p:spPr>
            <a:xfrm>
              <a:off x="775440" y="1398960"/>
              <a:ext cx="2075400" cy="4047480"/>
            </a:xfrm>
            <a:custGeom>
              <a:avLst/>
              <a:gdLst>
                <a:gd name="textAreaLeft" fmla="*/ 0 w 2075400"/>
                <a:gd name="textAreaRight" fmla="*/ 2076120 w 2075400"/>
                <a:gd name="textAreaTop" fmla="*/ 0 h 4047480"/>
                <a:gd name="textAreaBottom" fmla="*/ 4048200 h 4047480"/>
              </a:gdLst>
              <a:ah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hu-HU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9" name="Freeform 20"/>
            <p:cNvSpPr/>
            <p:nvPr/>
          </p:nvSpPr>
          <p:spPr>
            <a:xfrm>
              <a:off x="922680" y="6530040"/>
              <a:ext cx="161280" cy="336600"/>
            </a:xfrm>
            <a:custGeom>
              <a:avLst/>
              <a:gdLst>
                <a:gd name="textAreaLeft" fmla="*/ 0 w 161280"/>
                <a:gd name="textAreaRight" fmla="*/ 162000 w 161280"/>
                <a:gd name="textAreaTop" fmla="*/ 0 h 336600"/>
                <a:gd name="textAreaBottom" fmla="*/ 337320 h 336600"/>
              </a:gdLst>
              <a:ah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hu-HU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80" name="Freeform 21"/>
            <p:cNvSpPr/>
            <p:nvPr/>
          </p:nvSpPr>
          <p:spPr>
            <a:xfrm>
              <a:off x="769680" y="5359320"/>
              <a:ext cx="36720" cy="221040"/>
            </a:xfrm>
            <a:custGeom>
              <a:avLst/>
              <a:gdLst>
                <a:gd name="textAreaLeft" fmla="*/ 0 w 36720"/>
                <a:gd name="textAreaRight" fmla="*/ 37440 w 36720"/>
                <a:gd name="textAreaTop" fmla="*/ 0 h 221040"/>
                <a:gd name="textAreaBottom" fmla="*/ 221760 h 221040"/>
              </a:gdLst>
              <a:ah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hu-HU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81" name="Freeform 22"/>
            <p:cNvSpPr/>
            <p:nvPr/>
          </p:nvSpPr>
          <p:spPr>
            <a:xfrm>
              <a:off x="849960" y="6244560"/>
              <a:ext cx="237960" cy="621720"/>
            </a:xfrm>
            <a:custGeom>
              <a:avLst/>
              <a:gdLst>
                <a:gd name="textAreaLeft" fmla="*/ 0 w 237960"/>
                <a:gd name="textAreaRight" fmla="*/ 238680 w 237960"/>
                <a:gd name="textAreaTop" fmla="*/ 0 h 621720"/>
                <a:gd name="textAreaBottom" fmla="*/ 622440 h 621720"/>
              </a:gdLst>
              <a:ah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hu-HU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82" name="Group 9"/>
          <p:cNvGrpSpPr/>
          <p:nvPr/>
        </p:nvGrpSpPr>
        <p:grpSpPr>
          <a:xfrm>
            <a:off x="27360" y="-720"/>
            <a:ext cx="2355840" cy="6853320"/>
            <a:chOff x="27360" y="-720"/>
            <a:chExt cx="2355840" cy="6853320"/>
          </a:xfrm>
        </p:grpSpPr>
        <p:sp>
          <p:nvSpPr>
            <p:cNvPr id="83" name="Freeform 27"/>
            <p:cNvSpPr/>
            <p:nvPr/>
          </p:nvSpPr>
          <p:spPr>
            <a:xfrm>
              <a:off x="27360" y="-720"/>
              <a:ext cx="493560" cy="4400280"/>
            </a:xfrm>
            <a:custGeom>
              <a:avLst/>
              <a:gdLst>
                <a:gd name="textAreaLeft" fmla="*/ 0 w 493560"/>
                <a:gd name="textAreaRight" fmla="*/ 494280 w 493560"/>
                <a:gd name="textAreaTop" fmla="*/ 0 h 4400280"/>
                <a:gd name="textAreaBottom" fmla="*/ 4401000 h 4400280"/>
              </a:gdLst>
              <a:ah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hu-HU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84" name="Freeform 28"/>
            <p:cNvSpPr/>
            <p:nvPr/>
          </p:nvSpPr>
          <p:spPr>
            <a:xfrm>
              <a:off x="550440" y="4316400"/>
              <a:ext cx="422640" cy="1580040"/>
            </a:xfrm>
            <a:custGeom>
              <a:avLst/>
              <a:gdLst>
                <a:gd name="textAreaLeft" fmla="*/ 0 w 422640"/>
                <a:gd name="textAreaRight" fmla="*/ 423360 w 422640"/>
                <a:gd name="textAreaTop" fmla="*/ 0 h 1580040"/>
                <a:gd name="textAreaBottom" fmla="*/ 1580760 h 1580040"/>
              </a:gdLst>
              <a:ah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hu-HU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85" name="Freeform 29"/>
            <p:cNvSpPr/>
            <p:nvPr/>
          </p:nvSpPr>
          <p:spPr>
            <a:xfrm>
              <a:off x="1006200" y="5862600"/>
              <a:ext cx="430200" cy="990000"/>
            </a:xfrm>
            <a:custGeom>
              <a:avLst/>
              <a:gdLst>
                <a:gd name="textAreaLeft" fmla="*/ 0 w 430200"/>
                <a:gd name="textAreaRight" fmla="*/ 430920 w 430200"/>
                <a:gd name="textAreaTop" fmla="*/ 0 h 990000"/>
                <a:gd name="textAreaBottom" fmla="*/ 990720 h 990000"/>
              </a:gdLst>
              <a:ah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hu-HU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86" name="Freeform 30"/>
            <p:cNvSpPr/>
            <p:nvPr/>
          </p:nvSpPr>
          <p:spPr>
            <a:xfrm>
              <a:off x="521640" y="4364280"/>
              <a:ext cx="551160" cy="2235240"/>
            </a:xfrm>
            <a:custGeom>
              <a:avLst/>
              <a:gdLst>
                <a:gd name="textAreaLeft" fmla="*/ 0 w 551160"/>
                <a:gd name="textAreaRight" fmla="*/ 551880 w 551160"/>
                <a:gd name="textAreaTop" fmla="*/ 0 h 2235240"/>
                <a:gd name="textAreaBottom" fmla="*/ 2235960 h 2235240"/>
              </a:gdLst>
              <a:ah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hu-HU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87" name="Freeform 31"/>
            <p:cNvSpPr/>
            <p:nvPr/>
          </p:nvSpPr>
          <p:spPr>
            <a:xfrm>
              <a:off x="468000" y="1289160"/>
              <a:ext cx="173520" cy="3026520"/>
            </a:xfrm>
            <a:custGeom>
              <a:avLst/>
              <a:gdLst>
                <a:gd name="textAreaLeft" fmla="*/ 0 w 173520"/>
                <a:gd name="textAreaRight" fmla="*/ 174240 w 173520"/>
                <a:gd name="textAreaTop" fmla="*/ 0 h 3026520"/>
                <a:gd name="textAreaBottom" fmla="*/ 3027240 h 3026520"/>
              </a:gdLst>
              <a:ah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hu-HU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88" name="Freeform 32"/>
            <p:cNvSpPr/>
            <p:nvPr/>
          </p:nvSpPr>
          <p:spPr>
            <a:xfrm>
              <a:off x="1111680" y="6571440"/>
              <a:ext cx="133560" cy="280800"/>
            </a:xfrm>
            <a:custGeom>
              <a:avLst/>
              <a:gdLst>
                <a:gd name="textAreaLeft" fmla="*/ 0 w 133560"/>
                <a:gd name="textAreaRight" fmla="*/ 134280 w 133560"/>
                <a:gd name="textAreaTop" fmla="*/ 0 h 280800"/>
                <a:gd name="textAreaBottom" fmla="*/ 281520 h 280800"/>
              </a:gdLst>
              <a:ah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hu-HU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89" name="Freeform 33"/>
            <p:cNvSpPr/>
            <p:nvPr/>
          </p:nvSpPr>
          <p:spPr>
            <a:xfrm>
              <a:off x="502560" y="4107600"/>
              <a:ext cx="81720" cy="510840"/>
            </a:xfrm>
            <a:custGeom>
              <a:avLst/>
              <a:gdLst>
                <a:gd name="textAreaLeft" fmla="*/ 0 w 81720"/>
                <a:gd name="textAreaRight" fmla="*/ 82440 w 81720"/>
                <a:gd name="textAreaTop" fmla="*/ 0 h 510840"/>
                <a:gd name="textAreaBottom" fmla="*/ 511560 h 510840"/>
              </a:gdLst>
              <a:ah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hu-HU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90" name="Freeform 34"/>
            <p:cNvSpPr/>
            <p:nvPr/>
          </p:nvSpPr>
          <p:spPr>
            <a:xfrm>
              <a:off x="973800" y="3145680"/>
              <a:ext cx="1409400" cy="2716200"/>
            </a:xfrm>
            <a:custGeom>
              <a:avLst/>
              <a:gdLst>
                <a:gd name="textAreaLeft" fmla="*/ 0 w 1409400"/>
                <a:gd name="textAreaRight" fmla="*/ 1410120 w 1409400"/>
                <a:gd name="textAreaTop" fmla="*/ 0 h 2716200"/>
                <a:gd name="textAreaBottom" fmla="*/ 2716920 h 2716200"/>
              </a:gdLst>
              <a:ah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hu-HU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91" name="Freeform 35"/>
            <p:cNvSpPr/>
            <p:nvPr/>
          </p:nvSpPr>
          <p:spPr>
            <a:xfrm>
              <a:off x="1073520" y="6600240"/>
              <a:ext cx="119880" cy="252360"/>
            </a:xfrm>
            <a:custGeom>
              <a:avLst/>
              <a:gdLst>
                <a:gd name="textAreaLeft" fmla="*/ 0 w 119880"/>
                <a:gd name="textAreaRight" fmla="*/ 120600 w 119880"/>
                <a:gd name="textAreaTop" fmla="*/ 0 h 252360"/>
                <a:gd name="textAreaBottom" fmla="*/ 253080 h 252360"/>
              </a:gdLst>
              <a:ah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hu-HU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92" name="Freeform 36"/>
            <p:cNvSpPr/>
            <p:nvPr/>
          </p:nvSpPr>
          <p:spPr>
            <a:xfrm>
              <a:off x="973800" y="5897160"/>
              <a:ext cx="137160" cy="673560"/>
            </a:xfrm>
            <a:custGeom>
              <a:avLst/>
              <a:gdLst>
                <a:gd name="textAreaLeft" fmla="*/ 0 w 137160"/>
                <a:gd name="textAreaRight" fmla="*/ 137880 w 137160"/>
                <a:gd name="textAreaTop" fmla="*/ 0 h 673560"/>
                <a:gd name="textAreaBottom" fmla="*/ 674280 h 673560"/>
              </a:gdLst>
              <a:ah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hu-HU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93" name="Freeform 37"/>
            <p:cNvSpPr/>
            <p:nvPr/>
          </p:nvSpPr>
          <p:spPr>
            <a:xfrm>
              <a:off x="973800" y="5772600"/>
              <a:ext cx="37440" cy="227160"/>
            </a:xfrm>
            <a:custGeom>
              <a:avLst/>
              <a:gdLst>
                <a:gd name="textAreaLeft" fmla="*/ 0 w 37440"/>
                <a:gd name="textAreaRight" fmla="*/ 38160 w 37440"/>
                <a:gd name="textAreaTop" fmla="*/ 0 h 227160"/>
                <a:gd name="textAreaBottom" fmla="*/ 227880 h 227160"/>
              </a:gdLst>
              <a:ah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hu-HU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94" name="Freeform 38"/>
            <p:cNvSpPr/>
            <p:nvPr/>
          </p:nvSpPr>
          <p:spPr>
            <a:xfrm>
              <a:off x="1006200" y="6322680"/>
              <a:ext cx="209880" cy="529920"/>
            </a:xfrm>
            <a:custGeom>
              <a:avLst/>
              <a:gdLst>
                <a:gd name="textAreaLeft" fmla="*/ 0 w 209880"/>
                <a:gd name="textAreaRight" fmla="*/ 210600 w 209880"/>
                <a:gd name="textAreaTop" fmla="*/ 0 h 529920"/>
                <a:gd name="textAreaBottom" fmla="*/ 530640 h 529920"/>
              </a:gdLst>
              <a:ah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hu-HU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95" name="Rectangle 6"/>
          <p:cNvSpPr/>
          <p:nvPr/>
        </p:nvSpPr>
        <p:spPr>
          <a:xfrm>
            <a:off x="0" y="0"/>
            <a:ext cx="182160" cy="685728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hu-HU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6" name="Freeform 11"/>
          <p:cNvSpPr/>
          <p:nvPr/>
        </p:nvSpPr>
        <p:spPr>
          <a:xfrm flipV="1">
            <a:off x="-3600" y="712800"/>
            <a:ext cx="1587960" cy="506520"/>
          </a:xfrm>
          <a:custGeom>
            <a:avLst/>
            <a:gdLst>
              <a:gd name="textAreaLeft" fmla="*/ 0 w 1587960"/>
              <a:gd name="textAreaRight" fmla="*/ 1588680 w 1587960"/>
              <a:gd name="textAreaTop" fmla="*/ 360 h 506520"/>
              <a:gd name="textAreaBottom" fmla="*/ 507600 h 506520"/>
            </a:gdLst>
            <a:ah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hu-HU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7" name="PlaceHolder 1"/>
          <p:cNvSpPr>
            <a:spLocks noGrp="1"/>
          </p:cNvSpPr>
          <p:nvPr>
            <p:ph type="ftr" idx="4"/>
          </p:nvPr>
        </p:nvSpPr>
        <p:spPr>
          <a:xfrm>
            <a:off x="2589120" y="6135840"/>
            <a:ext cx="76194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8b8b8b"/>
                </a:solidFill>
                <a:latin typeface="Century Gothic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8b8b8b"/>
                </a:solidFill>
                <a:latin typeface="Century Gothic"/>
              </a:rPr>
              <a:t>&lt;élőláb&gt;</a:t>
            </a:r>
            <a:endParaRPr b="0" lang="hu-HU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sldNum" idx="5"/>
          </p:nvPr>
        </p:nvSpPr>
        <p:spPr>
          <a:xfrm>
            <a:off x="531720" y="787680"/>
            <a:ext cx="77904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3C51B56-0734-40B9-8CE4-9C15C9EE8E1F}" type="slidenum">
              <a:rPr b="0" lang="en-US" sz="2000" spc="-1" strike="noStrike">
                <a:solidFill>
                  <a:srgbClr val="feffff"/>
                </a:solidFill>
                <a:latin typeface="Century Gothic"/>
              </a:rPr>
              <a:t>&lt;szám&gt;</a:t>
            </a:fld>
            <a:endParaRPr b="0" lang="hu-HU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dt" idx="6"/>
          </p:nvPr>
        </p:nvSpPr>
        <p:spPr>
          <a:xfrm>
            <a:off x="10361520" y="6130440"/>
            <a:ext cx="1145520" cy="369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hu-H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hu-HU" sz="1400" spc="-1" strike="noStrike">
                <a:solidFill>
                  <a:srgbClr val="000000"/>
                </a:solidFill>
                <a:latin typeface="Times New Roman"/>
              </a:rPr>
              <a:t>&lt;dátum/idő&gt;</a:t>
            </a:r>
            <a:endParaRPr b="0" lang="hu-H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hu-HU" sz="4400" spc="-1" strike="noStrike">
                <a:solidFill>
                  <a:srgbClr val="000000"/>
                </a:solidFill>
                <a:latin typeface="Arial"/>
              </a:rPr>
              <a:t>Címszöveg formátumának szerkesztése</a:t>
            </a:r>
            <a:endParaRPr b="0" lang="hu-H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u-HU" sz="3200" spc="-1" strike="noStrike">
                <a:solidFill>
                  <a:srgbClr val="000000"/>
                </a:solidFill>
                <a:latin typeface="Arial"/>
              </a:rPr>
              <a:t>Vázlatszöveg formátumának szerkesztése</a:t>
            </a: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hu-HU" sz="2800" spc="-1" strike="noStrike">
                <a:solidFill>
                  <a:srgbClr val="000000"/>
                </a:solidFill>
                <a:latin typeface="Arial"/>
              </a:rPr>
              <a:t>Második vázlatszint</a:t>
            </a:r>
            <a:endParaRPr b="0" lang="hu-H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u-HU" sz="2400" spc="-1" strike="noStrike">
                <a:solidFill>
                  <a:srgbClr val="000000"/>
                </a:solidFill>
                <a:latin typeface="Arial"/>
              </a:rPr>
              <a:t>Harmadik vázlatszint</a:t>
            </a:r>
            <a:endParaRPr b="0" lang="hu-H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hu-HU" sz="2000" spc="-1" strike="noStrike">
                <a:solidFill>
                  <a:srgbClr val="000000"/>
                </a:solidFill>
                <a:latin typeface="Arial"/>
              </a:rPr>
              <a:t>Negyedik vázlatszint</a:t>
            </a:r>
            <a:endParaRPr b="0" lang="hu-H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u-HU" sz="2000" spc="-1" strike="noStrike">
                <a:solidFill>
                  <a:srgbClr val="000000"/>
                </a:solidFill>
                <a:latin typeface="Arial"/>
              </a:rPr>
              <a:t>Ötödik vázlatszint</a:t>
            </a:r>
            <a:endParaRPr b="0" lang="hu-H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u-HU" sz="2000" spc="-1" strike="noStrike">
                <a:solidFill>
                  <a:srgbClr val="000000"/>
                </a:solidFill>
                <a:latin typeface="Arial"/>
              </a:rPr>
              <a:t>Hatodik vázlatszint</a:t>
            </a:r>
            <a:endParaRPr b="0" lang="hu-H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u-HU" sz="2000" spc="-1" strike="noStrike">
                <a:solidFill>
                  <a:srgbClr val="000000"/>
                </a:solidFill>
                <a:latin typeface="Arial"/>
              </a:rPr>
              <a:t>Hetedik vázlatszint</a:t>
            </a:r>
            <a:endParaRPr b="0" lang="hu-H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roup 22"/>
          <p:cNvGrpSpPr/>
          <p:nvPr/>
        </p:nvGrpSpPr>
        <p:grpSpPr>
          <a:xfrm>
            <a:off x="0" y="228600"/>
            <a:ext cx="2851200" cy="6638400"/>
            <a:chOff x="0" y="228600"/>
            <a:chExt cx="2851200" cy="6638400"/>
          </a:xfrm>
        </p:grpSpPr>
        <p:sp>
          <p:nvSpPr>
            <p:cNvPr id="139" name="Freeform 11"/>
            <p:cNvSpPr/>
            <p:nvPr/>
          </p:nvSpPr>
          <p:spPr>
            <a:xfrm>
              <a:off x="0" y="2575080"/>
              <a:ext cx="100440" cy="625680"/>
            </a:xfrm>
            <a:custGeom>
              <a:avLst/>
              <a:gdLst>
                <a:gd name="textAreaLeft" fmla="*/ 0 w 100440"/>
                <a:gd name="textAreaRight" fmla="*/ 100800 w 100440"/>
                <a:gd name="textAreaTop" fmla="*/ 0 h 625680"/>
                <a:gd name="textAreaBottom" fmla="*/ 626040 h 625680"/>
              </a:gdLst>
              <a:ah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hu-H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0" name="Freeform 12"/>
            <p:cNvSpPr/>
            <p:nvPr/>
          </p:nvSpPr>
          <p:spPr>
            <a:xfrm>
              <a:off x="128520" y="3156480"/>
              <a:ext cx="646200" cy="2322000"/>
            </a:xfrm>
            <a:custGeom>
              <a:avLst/>
              <a:gdLst>
                <a:gd name="textAreaLeft" fmla="*/ 0 w 646200"/>
                <a:gd name="textAreaRight" fmla="*/ 646560 w 646200"/>
                <a:gd name="textAreaTop" fmla="*/ 0 h 2322000"/>
                <a:gd name="textAreaBottom" fmla="*/ 2322360 h 2322000"/>
              </a:gdLst>
              <a:ah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hu-H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1" name="Freeform 13"/>
            <p:cNvSpPr/>
            <p:nvPr/>
          </p:nvSpPr>
          <p:spPr>
            <a:xfrm>
              <a:off x="807120" y="5447160"/>
              <a:ext cx="609120" cy="141984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1419840"/>
                <a:gd name="textAreaBottom" fmla="*/ 1420200 h 1419840"/>
              </a:gdLst>
              <a:ah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hu-H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2" name="Freeform 14"/>
            <p:cNvSpPr/>
            <p:nvPr/>
          </p:nvSpPr>
          <p:spPr>
            <a:xfrm>
              <a:off x="959760" y="6503760"/>
              <a:ext cx="171000" cy="363240"/>
            </a:xfrm>
            <a:custGeom>
              <a:avLst/>
              <a:gdLst>
                <a:gd name="textAreaLeft" fmla="*/ 0 w 171000"/>
                <a:gd name="textAreaRight" fmla="*/ 171360 w 171000"/>
                <a:gd name="textAreaTop" fmla="*/ 0 h 363240"/>
                <a:gd name="textAreaBottom" fmla="*/ 363600 h 363240"/>
              </a:gdLst>
              <a:ah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hu-H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3" name="Freeform 15"/>
            <p:cNvSpPr/>
            <p:nvPr/>
          </p:nvSpPr>
          <p:spPr>
            <a:xfrm>
              <a:off x="100800" y="3201120"/>
              <a:ext cx="821520" cy="3328200"/>
            </a:xfrm>
            <a:custGeom>
              <a:avLst/>
              <a:gdLst>
                <a:gd name="textAreaLeft" fmla="*/ 0 w 821520"/>
                <a:gd name="textAreaRight" fmla="*/ 821880 w 821520"/>
                <a:gd name="textAreaTop" fmla="*/ 0 h 3328200"/>
                <a:gd name="textAreaBottom" fmla="*/ 3328560 h 3328200"/>
              </a:gdLst>
              <a:ah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hu-H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4" name="Freeform 16"/>
            <p:cNvSpPr/>
            <p:nvPr/>
          </p:nvSpPr>
          <p:spPr>
            <a:xfrm>
              <a:off x="22320" y="228600"/>
              <a:ext cx="105840" cy="2927520"/>
            </a:xfrm>
            <a:custGeom>
              <a:avLst/>
              <a:gdLst>
                <a:gd name="textAreaLeft" fmla="*/ 0 w 105840"/>
                <a:gd name="textAreaRight" fmla="*/ 106200 w 105840"/>
                <a:gd name="textAreaTop" fmla="*/ 0 h 2927520"/>
                <a:gd name="textAreaBottom" fmla="*/ 2927880 h 2927520"/>
              </a:gdLst>
              <a:ah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hu-H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5" name="Freeform 17"/>
            <p:cNvSpPr/>
            <p:nvPr/>
          </p:nvSpPr>
          <p:spPr>
            <a:xfrm>
              <a:off x="78120" y="2944080"/>
              <a:ext cx="77760" cy="493560"/>
            </a:xfrm>
            <a:custGeom>
              <a:avLst/>
              <a:gdLst>
                <a:gd name="textAreaLeft" fmla="*/ 0 w 77760"/>
                <a:gd name="textAreaRight" fmla="*/ 78120 w 77760"/>
                <a:gd name="textAreaTop" fmla="*/ 0 h 493560"/>
                <a:gd name="textAreaBottom" fmla="*/ 493920 h 493560"/>
              </a:gdLst>
              <a:ah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hu-H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6" name="Freeform 18"/>
            <p:cNvSpPr/>
            <p:nvPr/>
          </p:nvSpPr>
          <p:spPr>
            <a:xfrm>
              <a:off x="769680" y="5478840"/>
              <a:ext cx="189720" cy="1024560"/>
            </a:xfrm>
            <a:custGeom>
              <a:avLst/>
              <a:gdLst>
                <a:gd name="textAreaLeft" fmla="*/ 0 w 189720"/>
                <a:gd name="textAreaRight" fmla="*/ 190080 w 189720"/>
                <a:gd name="textAreaTop" fmla="*/ 0 h 1024560"/>
                <a:gd name="textAreaBottom" fmla="*/ 1024920 h 1024560"/>
              </a:gdLst>
              <a:ah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hu-H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7" name="Freeform 19"/>
            <p:cNvSpPr/>
            <p:nvPr/>
          </p:nvSpPr>
          <p:spPr>
            <a:xfrm>
              <a:off x="775440" y="1398960"/>
              <a:ext cx="2075760" cy="4047840"/>
            </a:xfrm>
            <a:custGeom>
              <a:avLst/>
              <a:gdLst>
                <a:gd name="textAreaLeft" fmla="*/ 0 w 2075760"/>
                <a:gd name="textAreaRight" fmla="*/ 2076120 w 2075760"/>
                <a:gd name="textAreaTop" fmla="*/ 0 h 4047840"/>
                <a:gd name="textAreaBottom" fmla="*/ 4048200 h 4047840"/>
              </a:gdLst>
              <a:ah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hu-H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8" name="Freeform 20"/>
            <p:cNvSpPr/>
            <p:nvPr/>
          </p:nvSpPr>
          <p:spPr>
            <a:xfrm>
              <a:off x="922680" y="6530040"/>
              <a:ext cx="161640" cy="33696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336960"/>
                <a:gd name="textAreaBottom" fmla="*/ 337320 h 336960"/>
              </a:gdLst>
              <a:ah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hu-H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9" name="Freeform 21"/>
            <p:cNvSpPr/>
            <p:nvPr/>
          </p:nvSpPr>
          <p:spPr>
            <a:xfrm>
              <a:off x="769680" y="5359320"/>
              <a:ext cx="37080" cy="22140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221400"/>
                <a:gd name="textAreaBottom" fmla="*/ 221760 h 221400"/>
              </a:gdLst>
              <a:ah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hu-H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0" name="Freeform 22"/>
            <p:cNvSpPr/>
            <p:nvPr/>
          </p:nvSpPr>
          <p:spPr>
            <a:xfrm>
              <a:off x="849960" y="6244560"/>
              <a:ext cx="238320" cy="622080"/>
            </a:xfrm>
            <a:custGeom>
              <a:avLst/>
              <a:gdLst>
                <a:gd name="textAreaLeft" fmla="*/ 0 w 238320"/>
                <a:gd name="textAreaRight" fmla="*/ 238680 w 238320"/>
                <a:gd name="textAreaTop" fmla="*/ 0 h 622080"/>
                <a:gd name="textAreaBottom" fmla="*/ 622440 h 622080"/>
              </a:gdLst>
              <a:ah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hu-H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1" name="Group 9"/>
          <p:cNvGrpSpPr/>
          <p:nvPr/>
        </p:nvGrpSpPr>
        <p:grpSpPr>
          <a:xfrm>
            <a:off x="27360" y="-720"/>
            <a:ext cx="2356200" cy="6853680"/>
            <a:chOff x="27360" y="-720"/>
            <a:chExt cx="2356200" cy="6853680"/>
          </a:xfrm>
        </p:grpSpPr>
        <p:sp>
          <p:nvSpPr>
            <p:cNvPr id="152" name="Freeform 27"/>
            <p:cNvSpPr/>
            <p:nvPr/>
          </p:nvSpPr>
          <p:spPr>
            <a:xfrm>
              <a:off x="27360" y="-720"/>
              <a:ext cx="493920" cy="4400640"/>
            </a:xfrm>
            <a:custGeom>
              <a:avLst/>
              <a:gdLst>
                <a:gd name="textAreaLeft" fmla="*/ 0 w 493920"/>
                <a:gd name="textAreaRight" fmla="*/ 494280 w 493920"/>
                <a:gd name="textAreaTop" fmla="*/ 0 h 4400640"/>
                <a:gd name="textAreaBottom" fmla="*/ 4401000 h 4400640"/>
              </a:gdLst>
              <a:ah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hu-H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3" name="Freeform 28"/>
            <p:cNvSpPr/>
            <p:nvPr/>
          </p:nvSpPr>
          <p:spPr>
            <a:xfrm>
              <a:off x="550440" y="4316400"/>
              <a:ext cx="423000" cy="1580400"/>
            </a:xfrm>
            <a:custGeom>
              <a:avLst/>
              <a:gdLst>
                <a:gd name="textAreaLeft" fmla="*/ 0 w 423000"/>
                <a:gd name="textAreaRight" fmla="*/ 423360 w 423000"/>
                <a:gd name="textAreaTop" fmla="*/ 0 h 1580400"/>
                <a:gd name="textAreaBottom" fmla="*/ 1580760 h 1580400"/>
              </a:gdLst>
              <a:ah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hu-H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4" name="Freeform 29"/>
            <p:cNvSpPr/>
            <p:nvPr/>
          </p:nvSpPr>
          <p:spPr>
            <a:xfrm>
              <a:off x="1006200" y="5862600"/>
              <a:ext cx="430560" cy="990360"/>
            </a:xfrm>
            <a:custGeom>
              <a:avLst/>
              <a:gdLst>
                <a:gd name="textAreaLeft" fmla="*/ 0 w 430560"/>
                <a:gd name="textAreaRight" fmla="*/ 430920 w 430560"/>
                <a:gd name="textAreaTop" fmla="*/ 0 h 990360"/>
                <a:gd name="textAreaBottom" fmla="*/ 990720 h 990360"/>
              </a:gdLst>
              <a:ah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hu-H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5" name="Freeform 30"/>
            <p:cNvSpPr/>
            <p:nvPr/>
          </p:nvSpPr>
          <p:spPr>
            <a:xfrm>
              <a:off x="521640" y="4364280"/>
              <a:ext cx="551520" cy="2235600"/>
            </a:xfrm>
            <a:custGeom>
              <a:avLst/>
              <a:gdLst>
                <a:gd name="textAreaLeft" fmla="*/ 0 w 551520"/>
                <a:gd name="textAreaRight" fmla="*/ 551880 w 551520"/>
                <a:gd name="textAreaTop" fmla="*/ 0 h 2235600"/>
                <a:gd name="textAreaBottom" fmla="*/ 2235960 h 2235600"/>
              </a:gdLst>
              <a:ah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hu-H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6" name="Freeform 31"/>
            <p:cNvSpPr/>
            <p:nvPr/>
          </p:nvSpPr>
          <p:spPr>
            <a:xfrm>
              <a:off x="468000" y="1289160"/>
              <a:ext cx="173880" cy="3026880"/>
            </a:xfrm>
            <a:custGeom>
              <a:avLst/>
              <a:gdLst>
                <a:gd name="textAreaLeft" fmla="*/ 0 w 173880"/>
                <a:gd name="textAreaRight" fmla="*/ 174240 w 173880"/>
                <a:gd name="textAreaTop" fmla="*/ 0 h 3026880"/>
                <a:gd name="textAreaBottom" fmla="*/ 3027240 h 3026880"/>
              </a:gdLst>
              <a:ah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hu-H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7" name="Freeform 32"/>
            <p:cNvSpPr/>
            <p:nvPr/>
          </p:nvSpPr>
          <p:spPr>
            <a:xfrm>
              <a:off x="1111680" y="6571440"/>
              <a:ext cx="133920" cy="281160"/>
            </a:xfrm>
            <a:custGeom>
              <a:avLst/>
              <a:gdLst>
                <a:gd name="textAreaLeft" fmla="*/ 0 w 133920"/>
                <a:gd name="textAreaRight" fmla="*/ 134280 w 133920"/>
                <a:gd name="textAreaTop" fmla="*/ 0 h 281160"/>
                <a:gd name="textAreaBottom" fmla="*/ 281520 h 281160"/>
              </a:gdLst>
              <a:ah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hu-H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8" name="Freeform 33"/>
            <p:cNvSpPr/>
            <p:nvPr/>
          </p:nvSpPr>
          <p:spPr>
            <a:xfrm>
              <a:off x="502560" y="4107600"/>
              <a:ext cx="82080" cy="511200"/>
            </a:xfrm>
            <a:custGeom>
              <a:avLst/>
              <a:gdLst>
                <a:gd name="textAreaLeft" fmla="*/ 0 w 82080"/>
                <a:gd name="textAreaRight" fmla="*/ 82440 w 82080"/>
                <a:gd name="textAreaTop" fmla="*/ 0 h 511200"/>
                <a:gd name="textAreaBottom" fmla="*/ 511560 h 511200"/>
              </a:gdLst>
              <a:ah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hu-H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9" name="Freeform 34"/>
            <p:cNvSpPr/>
            <p:nvPr/>
          </p:nvSpPr>
          <p:spPr>
            <a:xfrm>
              <a:off x="973800" y="3145680"/>
              <a:ext cx="1409760" cy="2716560"/>
            </a:xfrm>
            <a:custGeom>
              <a:avLst/>
              <a:gdLst>
                <a:gd name="textAreaLeft" fmla="*/ 0 w 1409760"/>
                <a:gd name="textAreaRight" fmla="*/ 1410120 w 1409760"/>
                <a:gd name="textAreaTop" fmla="*/ 0 h 2716560"/>
                <a:gd name="textAreaBottom" fmla="*/ 2716920 h 2716560"/>
              </a:gdLst>
              <a:ah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hu-H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0" name="Freeform 35"/>
            <p:cNvSpPr/>
            <p:nvPr/>
          </p:nvSpPr>
          <p:spPr>
            <a:xfrm>
              <a:off x="1073520" y="6600240"/>
              <a:ext cx="120240" cy="252720"/>
            </a:xfrm>
            <a:custGeom>
              <a:avLst/>
              <a:gdLst>
                <a:gd name="textAreaLeft" fmla="*/ 0 w 120240"/>
                <a:gd name="textAreaRight" fmla="*/ 120600 w 120240"/>
                <a:gd name="textAreaTop" fmla="*/ 0 h 252720"/>
                <a:gd name="textAreaBottom" fmla="*/ 253080 h 252720"/>
              </a:gdLst>
              <a:ah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hu-H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1" name="Freeform 36"/>
            <p:cNvSpPr/>
            <p:nvPr/>
          </p:nvSpPr>
          <p:spPr>
            <a:xfrm>
              <a:off x="973800" y="5897160"/>
              <a:ext cx="137520" cy="673920"/>
            </a:xfrm>
            <a:custGeom>
              <a:avLst/>
              <a:gdLst>
                <a:gd name="textAreaLeft" fmla="*/ 0 w 137520"/>
                <a:gd name="textAreaRight" fmla="*/ 137880 w 137520"/>
                <a:gd name="textAreaTop" fmla="*/ 0 h 673920"/>
                <a:gd name="textAreaBottom" fmla="*/ 674280 h 673920"/>
              </a:gdLst>
              <a:ah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hu-H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2" name="Freeform 37"/>
            <p:cNvSpPr/>
            <p:nvPr/>
          </p:nvSpPr>
          <p:spPr>
            <a:xfrm>
              <a:off x="973800" y="5772600"/>
              <a:ext cx="37800" cy="227520"/>
            </a:xfrm>
            <a:custGeom>
              <a:avLst/>
              <a:gdLst>
                <a:gd name="textAreaLeft" fmla="*/ 0 w 37800"/>
                <a:gd name="textAreaRight" fmla="*/ 38160 w 37800"/>
                <a:gd name="textAreaTop" fmla="*/ 0 h 227520"/>
                <a:gd name="textAreaBottom" fmla="*/ 227880 h 227520"/>
              </a:gdLst>
              <a:ah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hu-H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3" name="Freeform 38"/>
            <p:cNvSpPr/>
            <p:nvPr/>
          </p:nvSpPr>
          <p:spPr>
            <a:xfrm>
              <a:off x="1006200" y="6322680"/>
              <a:ext cx="210240" cy="530280"/>
            </a:xfrm>
            <a:custGeom>
              <a:avLst/>
              <a:gdLst>
                <a:gd name="textAreaLeft" fmla="*/ 0 w 210240"/>
                <a:gd name="textAreaRight" fmla="*/ 210600 w 210240"/>
                <a:gd name="textAreaTop" fmla="*/ 0 h 530280"/>
                <a:gd name="textAreaBottom" fmla="*/ 530640 h 530280"/>
              </a:gdLst>
              <a:ah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hu-H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64" name="Rectangle 6"/>
          <p:cNvSpPr/>
          <p:nvPr/>
        </p:nvSpPr>
        <p:spPr>
          <a:xfrm>
            <a:off x="0" y="0"/>
            <a:ext cx="182520" cy="685764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1440" cy="12805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hu-HU" sz="3600" spc="-1" strike="noStrike">
                <a:solidFill>
                  <a:srgbClr val="262626"/>
                </a:solidFill>
                <a:latin typeface="Century Gothic"/>
              </a:rPr>
              <a:t>Mintacím szerkesztése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2589120" y="2133720"/>
            <a:ext cx="8915040" cy="3777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b="0" lang="hu-HU" sz="1800" spc="-1" strike="noStrike">
                <a:solidFill>
                  <a:srgbClr val="404040"/>
                </a:solidFill>
                <a:latin typeface="Century Gothic"/>
              </a:rPr>
              <a:t>Mintaszöveg szerkesztése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b="0" lang="hu-HU" sz="1600" spc="-1" strike="noStrike">
                <a:solidFill>
                  <a:srgbClr val="404040"/>
                </a:solidFill>
                <a:latin typeface="Century Gothic"/>
              </a:rPr>
              <a:t>Második szint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2" marL="1143000" indent="-2286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b="0" lang="hu-HU" sz="1400" spc="-1" strike="noStrike">
                <a:solidFill>
                  <a:srgbClr val="404040"/>
                </a:solidFill>
                <a:latin typeface="Century Gothic"/>
              </a:rPr>
              <a:t>Harmadik szint</a:t>
            </a:r>
            <a:endParaRPr b="0" lang="en-US" sz="1400" spc="-1" strike="noStrike">
              <a:solidFill>
                <a:srgbClr val="404040"/>
              </a:solidFill>
              <a:latin typeface="Century Gothic"/>
            </a:endParaRPr>
          </a:p>
          <a:p>
            <a:pPr lvl="3" marL="1600200" indent="-2286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b="0" lang="hu-HU" sz="1200" spc="-1" strike="noStrike">
                <a:solidFill>
                  <a:srgbClr val="404040"/>
                </a:solidFill>
                <a:latin typeface="Century Gothic"/>
              </a:rPr>
              <a:t>Negyedik szint</a:t>
            </a:r>
            <a:endParaRPr b="0" lang="en-US" sz="1200" spc="-1" strike="noStrike">
              <a:solidFill>
                <a:srgbClr val="404040"/>
              </a:solidFill>
              <a:latin typeface="Century Gothic"/>
            </a:endParaRPr>
          </a:p>
          <a:p>
            <a:pPr lvl="4" marL="2057400" indent="-2286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b="0" lang="hu-HU" sz="1200" spc="-1" strike="noStrike">
                <a:solidFill>
                  <a:srgbClr val="404040"/>
                </a:solidFill>
                <a:latin typeface="Century Gothic"/>
              </a:rPr>
              <a:t>Ötödik szint</a:t>
            </a:r>
            <a:endParaRPr b="0" lang="en-US" sz="12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dt" idx="7"/>
          </p:nvPr>
        </p:nvSpPr>
        <p:spPr>
          <a:xfrm>
            <a:off x="10361520" y="6130440"/>
            <a:ext cx="1145880" cy="3700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8b8b8b"/>
                </a:solidFill>
                <a:latin typeface="Century Gothic"/>
              </a:rPr>
              <a:t>&lt;dátum/idő&gt;</a:t>
            </a:r>
            <a:endParaRPr b="0" lang="hu-HU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" name="PlaceHolder 4"/>
          <p:cNvSpPr>
            <a:spLocks noGrp="1"/>
          </p:cNvSpPr>
          <p:nvPr>
            <p:ph type="ftr" idx="8"/>
          </p:nvPr>
        </p:nvSpPr>
        <p:spPr>
          <a:xfrm>
            <a:off x="2589120" y="6135840"/>
            <a:ext cx="76197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entury Gothic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8b8b8b"/>
                </a:solidFill>
                <a:latin typeface="Century Gothic"/>
              </a:rPr>
              <a:t>&lt;élőláb&gt;</a:t>
            </a:r>
            <a:endParaRPr b="0" lang="hu-HU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" name="Freeform 11"/>
          <p:cNvSpPr/>
          <p:nvPr/>
        </p:nvSpPr>
        <p:spPr>
          <a:xfrm flipV="1">
            <a:off x="-3960" y="713880"/>
            <a:ext cx="1588320" cy="506880"/>
          </a:xfrm>
          <a:custGeom>
            <a:avLst/>
            <a:gdLst>
              <a:gd name="textAreaLeft" fmla="*/ 0 w 1588320"/>
              <a:gd name="textAreaRight" fmla="*/ 1588680 w 1588320"/>
              <a:gd name="textAreaTop" fmla="*/ 360 h 506880"/>
              <a:gd name="textAreaBottom" fmla="*/ 507600 h 506880"/>
            </a:gdLst>
            <a:ah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5"/>
          <p:cNvSpPr>
            <a:spLocks noGrp="1"/>
          </p:cNvSpPr>
          <p:nvPr>
            <p:ph type="sldNum" idx="9"/>
          </p:nvPr>
        </p:nvSpPr>
        <p:spPr>
          <a:xfrm>
            <a:off x="531720" y="787680"/>
            <a:ext cx="77940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63CAA7E-869F-444A-BF11-BFA2C834BB2C}" type="slidenum">
              <a:rPr b="0" lang="en-US" sz="2000" spc="-1" strike="noStrike">
                <a:solidFill>
                  <a:srgbClr val="feffff"/>
                </a:solidFill>
                <a:latin typeface="Century Gothic"/>
              </a:rPr>
              <a:t>&lt;szám&gt;</a:t>
            </a:fld>
            <a:endParaRPr b="0" lang="hu-HU" sz="2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" name="Group 22"/>
          <p:cNvGrpSpPr/>
          <p:nvPr/>
        </p:nvGrpSpPr>
        <p:grpSpPr>
          <a:xfrm>
            <a:off x="0" y="228600"/>
            <a:ext cx="2851200" cy="6638400"/>
            <a:chOff x="0" y="228600"/>
            <a:chExt cx="2851200" cy="6638400"/>
          </a:xfrm>
        </p:grpSpPr>
        <p:sp>
          <p:nvSpPr>
            <p:cNvPr id="208" name="Freeform 11"/>
            <p:cNvSpPr/>
            <p:nvPr/>
          </p:nvSpPr>
          <p:spPr>
            <a:xfrm>
              <a:off x="0" y="2575080"/>
              <a:ext cx="100440" cy="625680"/>
            </a:xfrm>
            <a:custGeom>
              <a:avLst/>
              <a:gdLst>
                <a:gd name="textAreaLeft" fmla="*/ 0 w 100440"/>
                <a:gd name="textAreaRight" fmla="*/ 100800 w 100440"/>
                <a:gd name="textAreaTop" fmla="*/ 0 h 625680"/>
                <a:gd name="textAreaBottom" fmla="*/ 626040 h 625680"/>
              </a:gdLst>
              <a:ah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hu-H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9" name="Freeform 12"/>
            <p:cNvSpPr/>
            <p:nvPr/>
          </p:nvSpPr>
          <p:spPr>
            <a:xfrm>
              <a:off x="128520" y="3156480"/>
              <a:ext cx="646200" cy="2322000"/>
            </a:xfrm>
            <a:custGeom>
              <a:avLst/>
              <a:gdLst>
                <a:gd name="textAreaLeft" fmla="*/ 0 w 646200"/>
                <a:gd name="textAreaRight" fmla="*/ 646560 w 646200"/>
                <a:gd name="textAreaTop" fmla="*/ 0 h 2322000"/>
                <a:gd name="textAreaBottom" fmla="*/ 2322360 h 2322000"/>
              </a:gdLst>
              <a:ah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hu-H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0" name="Freeform 13"/>
            <p:cNvSpPr/>
            <p:nvPr/>
          </p:nvSpPr>
          <p:spPr>
            <a:xfrm>
              <a:off x="807120" y="5447160"/>
              <a:ext cx="609120" cy="141984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1419840"/>
                <a:gd name="textAreaBottom" fmla="*/ 1420200 h 1419840"/>
              </a:gdLst>
              <a:ah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hu-H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1" name="Freeform 14"/>
            <p:cNvSpPr/>
            <p:nvPr/>
          </p:nvSpPr>
          <p:spPr>
            <a:xfrm>
              <a:off x="959760" y="6503760"/>
              <a:ext cx="171000" cy="363240"/>
            </a:xfrm>
            <a:custGeom>
              <a:avLst/>
              <a:gdLst>
                <a:gd name="textAreaLeft" fmla="*/ 0 w 171000"/>
                <a:gd name="textAreaRight" fmla="*/ 171360 w 171000"/>
                <a:gd name="textAreaTop" fmla="*/ 0 h 363240"/>
                <a:gd name="textAreaBottom" fmla="*/ 363600 h 363240"/>
              </a:gdLst>
              <a:ah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hu-H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2" name="Freeform 15"/>
            <p:cNvSpPr/>
            <p:nvPr/>
          </p:nvSpPr>
          <p:spPr>
            <a:xfrm>
              <a:off x="100800" y="3201120"/>
              <a:ext cx="821520" cy="3328200"/>
            </a:xfrm>
            <a:custGeom>
              <a:avLst/>
              <a:gdLst>
                <a:gd name="textAreaLeft" fmla="*/ 0 w 821520"/>
                <a:gd name="textAreaRight" fmla="*/ 821880 w 821520"/>
                <a:gd name="textAreaTop" fmla="*/ 0 h 3328200"/>
                <a:gd name="textAreaBottom" fmla="*/ 3328560 h 3328200"/>
              </a:gdLst>
              <a:ah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hu-H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3" name="Freeform 16"/>
            <p:cNvSpPr/>
            <p:nvPr/>
          </p:nvSpPr>
          <p:spPr>
            <a:xfrm>
              <a:off x="22320" y="228600"/>
              <a:ext cx="105840" cy="2927520"/>
            </a:xfrm>
            <a:custGeom>
              <a:avLst/>
              <a:gdLst>
                <a:gd name="textAreaLeft" fmla="*/ 0 w 105840"/>
                <a:gd name="textAreaRight" fmla="*/ 106200 w 105840"/>
                <a:gd name="textAreaTop" fmla="*/ 0 h 2927520"/>
                <a:gd name="textAreaBottom" fmla="*/ 2927880 h 2927520"/>
              </a:gdLst>
              <a:ah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hu-H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4" name="Freeform 17"/>
            <p:cNvSpPr/>
            <p:nvPr/>
          </p:nvSpPr>
          <p:spPr>
            <a:xfrm>
              <a:off x="78120" y="2944080"/>
              <a:ext cx="77760" cy="493560"/>
            </a:xfrm>
            <a:custGeom>
              <a:avLst/>
              <a:gdLst>
                <a:gd name="textAreaLeft" fmla="*/ 0 w 77760"/>
                <a:gd name="textAreaRight" fmla="*/ 78120 w 77760"/>
                <a:gd name="textAreaTop" fmla="*/ 0 h 493560"/>
                <a:gd name="textAreaBottom" fmla="*/ 493920 h 493560"/>
              </a:gdLst>
              <a:ah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hu-H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5" name="Freeform 18"/>
            <p:cNvSpPr/>
            <p:nvPr/>
          </p:nvSpPr>
          <p:spPr>
            <a:xfrm>
              <a:off x="769680" y="5478840"/>
              <a:ext cx="189720" cy="1024560"/>
            </a:xfrm>
            <a:custGeom>
              <a:avLst/>
              <a:gdLst>
                <a:gd name="textAreaLeft" fmla="*/ 0 w 189720"/>
                <a:gd name="textAreaRight" fmla="*/ 190080 w 189720"/>
                <a:gd name="textAreaTop" fmla="*/ 0 h 1024560"/>
                <a:gd name="textAreaBottom" fmla="*/ 1024920 h 1024560"/>
              </a:gdLst>
              <a:ah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hu-H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6" name="Freeform 19"/>
            <p:cNvSpPr/>
            <p:nvPr/>
          </p:nvSpPr>
          <p:spPr>
            <a:xfrm>
              <a:off x="775440" y="1398960"/>
              <a:ext cx="2075760" cy="4047840"/>
            </a:xfrm>
            <a:custGeom>
              <a:avLst/>
              <a:gdLst>
                <a:gd name="textAreaLeft" fmla="*/ 0 w 2075760"/>
                <a:gd name="textAreaRight" fmla="*/ 2076120 w 2075760"/>
                <a:gd name="textAreaTop" fmla="*/ 0 h 4047840"/>
                <a:gd name="textAreaBottom" fmla="*/ 4048200 h 4047840"/>
              </a:gdLst>
              <a:ah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hu-H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7" name="Freeform 20"/>
            <p:cNvSpPr/>
            <p:nvPr/>
          </p:nvSpPr>
          <p:spPr>
            <a:xfrm>
              <a:off x="922680" y="6530040"/>
              <a:ext cx="161640" cy="33696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336960"/>
                <a:gd name="textAreaBottom" fmla="*/ 337320 h 336960"/>
              </a:gdLst>
              <a:ah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hu-H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8" name="Freeform 21"/>
            <p:cNvSpPr/>
            <p:nvPr/>
          </p:nvSpPr>
          <p:spPr>
            <a:xfrm>
              <a:off x="769680" y="5359320"/>
              <a:ext cx="37080" cy="22140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221400"/>
                <a:gd name="textAreaBottom" fmla="*/ 221760 h 221400"/>
              </a:gdLst>
              <a:ah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hu-H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9" name="Freeform 22"/>
            <p:cNvSpPr/>
            <p:nvPr/>
          </p:nvSpPr>
          <p:spPr>
            <a:xfrm>
              <a:off x="849960" y="6244560"/>
              <a:ext cx="238320" cy="622080"/>
            </a:xfrm>
            <a:custGeom>
              <a:avLst/>
              <a:gdLst>
                <a:gd name="textAreaLeft" fmla="*/ 0 w 238320"/>
                <a:gd name="textAreaRight" fmla="*/ 238680 w 238320"/>
                <a:gd name="textAreaTop" fmla="*/ 0 h 622080"/>
                <a:gd name="textAreaBottom" fmla="*/ 622440 h 622080"/>
              </a:gdLst>
              <a:ah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hu-H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0" name="Group 9"/>
          <p:cNvGrpSpPr/>
          <p:nvPr/>
        </p:nvGrpSpPr>
        <p:grpSpPr>
          <a:xfrm>
            <a:off x="27360" y="-720"/>
            <a:ext cx="2356200" cy="6853680"/>
            <a:chOff x="27360" y="-720"/>
            <a:chExt cx="2356200" cy="6853680"/>
          </a:xfrm>
        </p:grpSpPr>
        <p:sp>
          <p:nvSpPr>
            <p:cNvPr id="221" name="Freeform 27"/>
            <p:cNvSpPr/>
            <p:nvPr/>
          </p:nvSpPr>
          <p:spPr>
            <a:xfrm>
              <a:off x="27360" y="-720"/>
              <a:ext cx="493920" cy="4400640"/>
            </a:xfrm>
            <a:custGeom>
              <a:avLst/>
              <a:gdLst>
                <a:gd name="textAreaLeft" fmla="*/ 0 w 493920"/>
                <a:gd name="textAreaRight" fmla="*/ 494280 w 493920"/>
                <a:gd name="textAreaTop" fmla="*/ 0 h 4400640"/>
                <a:gd name="textAreaBottom" fmla="*/ 4401000 h 4400640"/>
              </a:gdLst>
              <a:ah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hu-H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2" name="Freeform 28"/>
            <p:cNvSpPr/>
            <p:nvPr/>
          </p:nvSpPr>
          <p:spPr>
            <a:xfrm>
              <a:off x="550440" y="4316400"/>
              <a:ext cx="423000" cy="1580400"/>
            </a:xfrm>
            <a:custGeom>
              <a:avLst/>
              <a:gdLst>
                <a:gd name="textAreaLeft" fmla="*/ 0 w 423000"/>
                <a:gd name="textAreaRight" fmla="*/ 423360 w 423000"/>
                <a:gd name="textAreaTop" fmla="*/ 0 h 1580400"/>
                <a:gd name="textAreaBottom" fmla="*/ 1580760 h 1580400"/>
              </a:gdLst>
              <a:ah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hu-H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3" name="Freeform 29"/>
            <p:cNvSpPr/>
            <p:nvPr/>
          </p:nvSpPr>
          <p:spPr>
            <a:xfrm>
              <a:off x="1006200" y="5862600"/>
              <a:ext cx="430560" cy="990360"/>
            </a:xfrm>
            <a:custGeom>
              <a:avLst/>
              <a:gdLst>
                <a:gd name="textAreaLeft" fmla="*/ 0 w 430560"/>
                <a:gd name="textAreaRight" fmla="*/ 430920 w 430560"/>
                <a:gd name="textAreaTop" fmla="*/ 0 h 990360"/>
                <a:gd name="textAreaBottom" fmla="*/ 990720 h 990360"/>
              </a:gdLst>
              <a:ah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hu-H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4" name="Freeform 30"/>
            <p:cNvSpPr/>
            <p:nvPr/>
          </p:nvSpPr>
          <p:spPr>
            <a:xfrm>
              <a:off x="521640" y="4364280"/>
              <a:ext cx="551520" cy="2235600"/>
            </a:xfrm>
            <a:custGeom>
              <a:avLst/>
              <a:gdLst>
                <a:gd name="textAreaLeft" fmla="*/ 0 w 551520"/>
                <a:gd name="textAreaRight" fmla="*/ 551880 w 551520"/>
                <a:gd name="textAreaTop" fmla="*/ 0 h 2235600"/>
                <a:gd name="textAreaBottom" fmla="*/ 2235960 h 2235600"/>
              </a:gdLst>
              <a:ah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hu-H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5" name="Freeform 31"/>
            <p:cNvSpPr/>
            <p:nvPr/>
          </p:nvSpPr>
          <p:spPr>
            <a:xfrm>
              <a:off x="468000" y="1289160"/>
              <a:ext cx="173880" cy="3026880"/>
            </a:xfrm>
            <a:custGeom>
              <a:avLst/>
              <a:gdLst>
                <a:gd name="textAreaLeft" fmla="*/ 0 w 173880"/>
                <a:gd name="textAreaRight" fmla="*/ 174240 w 173880"/>
                <a:gd name="textAreaTop" fmla="*/ 0 h 3026880"/>
                <a:gd name="textAreaBottom" fmla="*/ 3027240 h 3026880"/>
              </a:gdLst>
              <a:ah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hu-H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6" name="Freeform 32"/>
            <p:cNvSpPr/>
            <p:nvPr/>
          </p:nvSpPr>
          <p:spPr>
            <a:xfrm>
              <a:off x="1111680" y="6571440"/>
              <a:ext cx="133920" cy="281160"/>
            </a:xfrm>
            <a:custGeom>
              <a:avLst/>
              <a:gdLst>
                <a:gd name="textAreaLeft" fmla="*/ 0 w 133920"/>
                <a:gd name="textAreaRight" fmla="*/ 134280 w 133920"/>
                <a:gd name="textAreaTop" fmla="*/ 0 h 281160"/>
                <a:gd name="textAreaBottom" fmla="*/ 281520 h 281160"/>
              </a:gdLst>
              <a:ah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hu-H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7" name="Freeform 33"/>
            <p:cNvSpPr/>
            <p:nvPr/>
          </p:nvSpPr>
          <p:spPr>
            <a:xfrm>
              <a:off x="502560" y="4107600"/>
              <a:ext cx="82080" cy="511200"/>
            </a:xfrm>
            <a:custGeom>
              <a:avLst/>
              <a:gdLst>
                <a:gd name="textAreaLeft" fmla="*/ 0 w 82080"/>
                <a:gd name="textAreaRight" fmla="*/ 82440 w 82080"/>
                <a:gd name="textAreaTop" fmla="*/ 0 h 511200"/>
                <a:gd name="textAreaBottom" fmla="*/ 511560 h 511200"/>
              </a:gdLst>
              <a:ah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hu-H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8" name="Freeform 34"/>
            <p:cNvSpPr/>
            <p:nvPr/>
          </p:nvSpPr>
          <p:spPr>
            <a:xfrm>
              <a:off x="973800" y="3145680"/>
              <a:ext cx="1409760" cy="2716560"/>
            </a:xfrm>
            <a:custGeom>
              <a:avLst/>
              <a:gdLst>
                <a:gd name="textAreaLeft" fmla="*/ 0 w 1409760"/>
                <a:gd name="textAreaRight" fmla="*/ 1410120 w 1409760"/>
                <a:gd name="textAreaTop" fmla="*/ 0 h 2716560"/>
                <a:gd name="textAreaBottom" fmla="*/ 2716920 h 2716560"/>
              </a:gdLst>
              <a:ah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hu-H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9" name="Freeform 35"/>
            <p:cNvSpPr/>
            <p:nvPr/>
          </p:nvSpPr>
          <p:spPr>
            <a:xfrm>
              <a:off x="1073520" y="6600240"/>
              <a:ext cx="120240" cy="252720"/>
            </a:xfrm>
            <a:custGeom>
              <a:avLst/>
              <a:gdLst>
                <a:gd name="textAreaLeft" fmla="*/ 0 w 120240"/>
                <a:gd name="textAreaRight" fmla="*/ 120600 w 120240"/>
                <a:gd name="textAreaTop" fmla="*/ 0 h 252720"/>
                <a:gd name="textAreaBottom" fmla="*/ 253080 h 252720"/>
              </a:gdLst>
              <a:ah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hu-H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0" name="Freeform 36"/>
            <p:cNvSpPr/>
            <p:nvPr/>
          </p:nvSpPr>
          <p:spPr>
            <a:xfrm>
              <a:off x="973800" y="5897160"/>
              <a:ext cx="137520" cy="673920"/>
            </a:xfrm>
            <a:custGeom>
              <a:avLst/>
              <a:gdLst>
                <a:gd name="textAreaLeft" fmla="*/ 0 w 137520"/>
                <a:gd name="textAreaRight" fmla="*/ 137880 w 137520"/>
                <a:gd name="textAreaTop" fmla="*/ 0 h 673920"/>
                <a:gd name="textAreaBottom" fmla="*/ 674280 h 673920"/>
              </a:gdLst>
              <a:ah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hu-H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1" name="Freeform 37"/>
            <p:cNvSpPr/>
            <p:nvPr/>
          </p:nvSpPr>
          <p:spPr>
            <a:xfrm>
              <a:off x="973800" y="5772600"/>
              <a:ext cx="37800" cy="227520"/>
            </a:xfrm>
            <a:custGeom>
              <a:avLst/>
              <a:gdLst>
                <a:gd name="textAreaLeft" fmla="*/ 0 w 37800"/>
                <a:gd name="textAreaRight" fmla="*/ 38160 w 37800"/>
                <a:gd name="textAreaTop" fmla="*/ 0 h 227520"/>
                <a:gd name="textAreaBottom" fmla="*/ 227880 h 227520"/>
              </a:gdLst>
              <a:ah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hu-H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2" name="Freeform 38"/>
            <p:cNvSpPr/>
            <p:nvPr/>
          </p:nvSpPr>
          <p:spPr>
            <a:xfrm>
              <a:off x="1006200" y="6322680"/>
              <a:ext cx="210240" cy="530280"/>
            </a:xfrm>
            <a:custGeom>
              <a:avLst/>
              <a:gdLst>
                <a:gd name="textAreaLeft" fmla="*/ 0 w 210240"/>
                <a:gd name="textAreaRight" fmla="*/ 210600 w 210240"/>
                <a:gd name="textAreaTop" fmla="*/ 0 h 530280"/>
                <a:gd name="textAreaBottom" fmla="*/ 530640 h 530280"/>
              </a:gdLst>
              <a:ah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hu-H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33" name="Rectangle 6"/>
          <p:cNvSpPr/>
          <p:nvPr/>
        </p:nvSpPr>
        <p:spPr>
          <a:xfrm>
            <a:off x="0" y="0"/>
            <a:ext cx="182520" cy="685764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1440" cy="12805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hu-HU" sz="3600" spc="-1" strike="noStrike">
                <a:solidFill>
                  <a:srgbClr val="262626"/>
                </a:solidFill>
                <a:latin typeface="Century Gothic"/>
              </a:rPr>
              <a:t>Mintacím szerkesztése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2589120" y="2133720"/>
            <a:ext cx="8915040" cy="3777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b="0" lang="hu-HU" sz="1800" spc="-1" strike="noStrike">
                <a:solidFill>
                  <a:srgbClr val="404040"/>
                </a:solidFill>
                <a:latin typeface="Century Gothic"/>
              </a:rPr>
              <a:t>Mintaszöveg szerkesztése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b="0" lang="hu-HU" sz="1600" spc="-1" strike="noStrike">
                <a:solidFill>
                  <a:srgbClr val="404040"/>
                </a:solidFill>
                <a:latin typeface="Century Gothic"/>
              </a:rPr>
              <a:t>Második szint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2" marL="1143000" indent="-2286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b="0" lang="hu-HU" sz="1400" spc="-1" strike="noStrike">
                <a:solidFill>
                  <a:srgbClr val="404040"/>
                </a:solidFill>
                <a:latin typeface="Century Gothic"/>
              </a:rPr>
              <a:t>Harmadik szint</a:t>
            </a:r>
            <a:endParaRPr b="0" lang="en-US" sz="1400" spc="-1" strike="noStrike">
              <a:solidFill>
                <a:srgbClr val="404040"/>
              </a:solidFill>
              <a:latin typeface="Century Gothic"/>
            </a:endParaRPr>
          </a:p>
          <a:p>
            <a:pPr lvl="3" marL="1600200" indent="-2286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b="0" lang="hu-HU" sz="1200" spc="-1" strike="noStrike">
                <a:solidFill>
                  <a:srgbClr val="404040"/>
                </a:solidFill>
                <a:latin typeface="Century Gothic"/>
              </a:rPr>
              <a:t>Negyedik szint</a:t>
            </a:r>
            <a:endParaRPr b="0" lang="en-US" sz="1200" spc="-1" strike="noStrike">
              <a:solidFill>
                <a:srgbClr val="404040"/>
              </a:solidFill>
              <a:latin typeface="Century Gothic"/>
            </a:endParaRPr>
          </a:p>
          <a:p>
            <a:pPr lvl="4" marL="2057400" indent="-2286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b="0" lang="hu-HU" sz="1200" spc="-1" strike="noStrike">
                <a:solidFill>
                  <a:srgbClr val="404040"/>
                </a:solidFill>
                <a:latin typeface="Century Gothic"/>
              </a:rPr>
              <a:t>Ötödik szint</a:t>
            </a:r>
            <a:endParaRPr b="0" lang="en-US" sz="12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dt" idx="10"/>
          </p:nvPr>
        </p:nvSpPr>
        <p:spPr>
          <a:xfrm>
            <a:off x="10361520" y="6130440"/>
            <a:ext cx="1145880" cy="3700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8b8b8b"/>
                </a:solidFill>
                <a:latin typeface="Century Gothic"/>
              </a:rPr>
              <a:t>&lt;dátum/idő&gt;</a:t>
            </a:r>
            <a:endParaRPr b="0" lang="hu-HU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7" name="PlaceHolder 4"/>
          <p:cNvSpPr>
            <a:spLocks noGrp="1"/>
          </p:cNvSpPr>
          <p:nvPr>
            <p:ph type="ftr" idx="11"/>
          </p:nvPr>
        </p:nvSpPr>
        <p:spPr>
          <a:xfrm>
            <a:off x="2589120" y="6135840"/>
            <a:ext cx="76197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entury Gothic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8b8b8b"/>
                </a:solidFill>
                <a:latin typeface="Century Gothic"/>
              </a:rPr>
              <a:t>&lt;élőláb&gt;</a:t>
            </a:r>
            <a:endParaRPr b="0" lang="hu-HU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8" name="Freeform 11"/>
          <p:cNvSpPr/>
          <p:nvPr/>
        </p:nvSpPr>
        <p:spPr>
          <a:xfrm flipV="1">
            <a:off x="-3960" y="713880"/>
            <a:ext cx="1588320" cy="506880"/>
          </a:xfrm>
          <a:custGeom>
            <a:avLst/>
            <a:gdLst>
              <a:gd name="textAreaLeft" fmla="*/ 0 w 1588320"/>
              <a:gd name="textAreaRight" fmla="*/ 1588680 w 1588320"/>
              <a:gd name="textAreaTop" fmla="*/ 360 h 506880"/>
              <a:gd name="textAreaBottom" fmla="*/ 507600 h 506880"/>
            </a:gdLst>
            <a:ah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PlaceHolder 5"/>
          <p:cNvSpPr>
            <a:spLocks noGrp="1"/>
          </p:cNvSpPr>
          <p:nvPr>
            <p:ph type="sldNum" idx="12"/>
          </p:nvPr>
        </p:nvSpPr>
        <p:spPr>
          <a:xfrm>
            <a:off x="531720" y="787680"/>
            <a:ext cx="77940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3AACF6A-2B4A-4CB3-9C18-FCC08649FB33}" type="slidenum">
              <a:rPr b="0" lang="en-US" sz="2000" spc="-1" strike="noStrike">
                <a:solidFill>
                  <a:srgbClr val="feffff"/>
                </a:solidFill>
                <a:latin typeface="Century Gothic"/>
              </a:rPr>
              <a:t>&lt;szám&gt;</a:t>
            </a:fld>
            <a:endParaRPr b="0" lang="hu-HU" sz="2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2589120" y="2514600"/>
            <a:ext cx="8914680" cy="226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u-HU" sz="5400" spc="-1" strike="noStrike">
                <a:solidFill>
                  <a:srgbClr val="262626"/>
                </a:solidFill>
                <a:latin typeface="Century Gothic"/>
              </a:rPr>
              <a:t>Tesztelés</a:t>
            </a:r>
            <a:br>
              <a:rPr sz="5400"/>
            </a:br>
            <a:r>
              <a:rPr b="0" lang="hu-HU" sz="3200" spc="-1" strike="noStrike">
                <a:solidFill>
                  <a:srgbClr val="262626"/>
                </a:solidFill>
                <a:latin typeface="Century Gothic"/>
              </a:rPr>
              <a:t>Tárgyfelelős: Várkonyi Tibor</a:t>
            </a:r>
            <a:endParaRPr b="0" lang="hu-H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2"/>
          <p:cNvSpPr>
            <a:spLocks noGrp="1"/>
          </p:cNvSpPr>
          <p:nvPr>
            <p:ph type="subTitle"/>
          </p:nvPr>
        </p:nvSpPr>
        <p:spPr>
          <a:xfrm>
            <a:off x="2589120" y="4777200"/>
            <a:ext cx="8914680" cy="112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u-HU" sz="1800" spc="-1" strike="noStrike">
                <a:solidFill>
                  <a:srgbClr val="595959"/>
                </a:solidFill>
                <a:latin typeface="Century Gothic"/>
              </a:rPr>
              <a:t>Szoftver életcikuls</a:t>
            </a:r>
            <a:endParaRPr b="0" lang="hu-H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 type="ftr" idx="13"/>
          </p:nvPr>
        </p:nvSpPr>
        <p:spPr>
          <a:xfrm>
            <a:off x="2589120" y="6135840"/>
            <a:ext cx="76194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8b8b8b"/>
                </a:solidFill>
                <a:latin typeface="Century Gothic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8b8b8b"/>
                </a:solidFill>
                <a:latin typeface="Century Gothic"/>
              </a:rPr>
              <a:t>Készítette: Gyamati Gábor@BMSZC Neumann János Informatikai Technikum - 2023.09.1</a:t>
            </a:r>
            <a:r>
              <a:rPr b="0" lang="hu-HU" sz="900" spc="-1" strike="noStrike">
                <a:solidFill>
                  <a:srgbClr val="8b8b8b"/>
                </a:solidFill>
                <a:latin typeface="Century Gothic"/>
              </a:rPr>
              <a:t>2</a:t>
            </a:r>
            <a:endParaRPr b="0" lang="hu-HU" sz="9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79" name="Kép 5" descr="A képen szöveg, kör, Betűtípus, Védjegy látható&#10;&#10;Automatikusan generált leírás"/>
          <p:cNvPicPr/>
          <p:nvPr/>
        </p:nvPicPr>
        <p:blipFill>
          <a:blip r:embed="rId1"/>
          <a:stretch/>
        </p:blipFill>
        <p:spPr>
          <a:xfrm>
            <a:off x="9505080" y="1035000"/>
            <a:ext cx="1625400" cy="1599840"/>
          </a:xfrm>
          <a:prstGeom prst="rect">
            <a:avLst/>
          </a:prstGeom>
          <a:ln w="0">
            <a:noFill/>
          </a:ln>
        </p:spPr>
      </p:pic>
      <p:pic>
        <p:nvPicPr>
          <p:cNvPr id="280" name="Kép 8" descr="A képen fekete, sötétség látható&#10;&#10;Automatikusan generált leírás"/>
          <p:cNvPicPr/>
          <p:nvPr/>
        </p:nvPicPr>
        <p:blipFill>
          <a:blip r:embed="rId2"/>
          <a:stretch/>
        </p:blipFill>
        <p:spPr>
          <a:xfrm>
            <a:off x="370080" y="151920"/>
            <a:ext cx="634320" cy="634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1080" cy="1280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u-HU" sz="3600" spc="-1" strike="noStrike">
                <a:solidFill>
                  <a:srgbClr val="262626"/>
                </a:solidFill>
                <a:latin typeface="Century Gothic"/>
              </a:rPr>
              <a:t>Szoftver életciklusa</a:t>
            </a:r>
            <a:endParaRPr b="0" lang="hu-HU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PlaceHolder 2"/>
          <p:cNvSpPr>
            <a:spLocks noGrp="1"/>
          </p:cNvSpPr>
          <p:nvPr>
            <p:ph/>
          </p:nvPr>
        </p:nvSpPr>
        <p:spPr>
          <a:xfrm>
            <a:off x="2589120" y="2133720"/>
            <a:ext cx="8914680" cy="3776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just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u-HU" sz="1800" spc="-1" strike="noStrike">
                <a:solidFill>
                  <a:srgbClr val="404040"/>
                </a:solidFill>
                <a:latin typeface="Century Gothic"/>
              </a:rPr>
              <a:t>A szoftver életciklusa alatt a szoftver teljes életútját értjük, az igény felmerülésétől, a megvalósításán át a szoftver kivezetéséig, megszüntetéséig.</a:t>
            </a:r>
            <a:endParaRPr b="0" lang="hu-HU" sz="18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u-HU" sz="1800" spc="-1" strike="noStrike">
                <a:solidFill>
                  <a:srgbClr val="404040"/>
                </a:solidFill>
                <a:latin typeface="Century Gothic"/>
              </a:rPr>
              <a:t>Az egyes fázisok más-más szereplőket, területeket érintenek. De ha tudatosan, tervszerűen történik az életciklus kezelése, akkor minden lépésnél jelen van valamilyen formában a tesztelés.</a:t>
            </a:r>
            <a:endParaRPr b="0" lang="hu-H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ftr" idx="14"/>
          </p:nvPr>
        </p:nvSpPr>
        <p:spPr>
          <a:xfrm>
            <a:off x="2589120" y="6135840"/>
            <a:ext cx="76194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8b8b8b"/>
                </a:solidFill>
                <a:latin typeface="Century Gothic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8b8b8b"/>
                </a:solidFill>
                <a:latin typeface="Century Gothic"/>
              </a:rPr>
              <a:t>Készítette: Gyamati Gábor@BMSZC Neumann János Informatikai Technikum - 2023.09.1</a:t>
            </a:r>
            <a:r>
              <a:rPr b="0" lang="hu-HU" sz="900" spc="-1" strike="noStrike">
                <a:solidFill>
                  <a:srgbClr val="8b8b8b"/>
                </a:solidFill>
                <a:latin typeface="Century Gothic"/>
              </a:rPr>
              <a:t>2</a:t>
            </a:r>
            <a:endParaRPr b="0" lang="hu-HU" sz="9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84" name="Kép 4" descr="A képen fekete, sötétség látható&#10;&#10;Automatikusan generált leírás"/>
          <p:cNvPicPr/>
          <p:nvPr/>
        </p:nvPicPr>
        <p:blipFill>
          <a:blip r:embed="rId1"/>
          <a:stretch/>
        </p:blipFill>
        <p:spPr>
          <a:xfrm>
            <a:off x="370080" y="151920"/>
            <a:ext cx="634320" cy="634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1080" cy="1280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u-HU" sz="3600" spc="-1" strike="noStrike">
                <a:solidFill>
                  <a:srgbClr val="262626"/>
                </a:solidFill>
                <a:latin typeface="Century Gothic"/>
              </a:rPr>
              <a:t>Szoftver életciklusa</a:t>
            </a:r>
            <a:endParaRPr b="0" lang="hu-HU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/>
          </p:nvPr>
        </p:nvSpPr>
        <p:spPr>
          <a:xfrm>
            <a:off x="2589120" y="2133720"/>
            <a:ext cx="8914680" cy="3776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AutoNum type="arabicPeriod"/>
            </a:pPr>
            <a:r>
              <a:rPr b="0" lang="hu-HU" sz="1800" spc="-1" strike="noStrike">
                <a:solidFill>
                  <a:srgbClr val="404040"/>
                </a:solidFill>
                <a:latin typeface="Century Gothic"/>
              </a:rPr>
              <a:t>Új igény (felmerülés, meghatározás)</a:t>
            </a:r>
            <a:endParaRPr b="0" lang="hu-HU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AutoNum type="arabicPeriod"/>
            </a:pPr>
            <a:r>
              <a:rPr b="0" lang="hu-HU" sz="1800" spc="-1" strike="noStrike">
                <a:solidFill>
                  <a:srgbClr val="404040"/>
                </a:solidFill>
                <a:latin typeface="Century Gothic"/>
              </a:rPr>
              <a:t>Javaslat kidolgozása</a:t>
            </a:r>
            <a:endParaRPr b="0" lang="hu-HU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AutoNum type="arabicPeriod"/>
            </a:pPr>
            <a:r>
              <a:rPr b="0" lang="hu-HU" sz="1800" spc="-1" strike="noStrike">
                <a:solidFill>
                  <a:srgbClr val="404040"/>
                </a:solidFill>
                <a:latin typeface="Century Gothic"/>
              </a:rPr>
              <a:t>Specifikáció</a:t>
            </a:r>
            <a:endParaRPr b="0" lang="hu-HU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AutoNum type="arabicPeriod"/>
            </a:pPr>
            <a:r>
              <a:rPr b="0" lang="hu-HU" sz="1800" spc="-1" strike="noStrike">
                <a:solidFill>
                  <a:srgbClr val="404040"/>
                </a:solidFill>
                <a:latin typeface="Century Gothic"/>
              </a:rPr>
              <a:t>Logikai és fizikai tervezés</a:t>
            </a:r>
            <a:endParaRPr b="0" lang="hu-HU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AutoNum type="arabicPeriod"/>
            </a:pPr>
            <a:r>
              <a:rPr b="0" lang="hu-HU" sz="1800" spc="-1" strike="noStrike">
                <a:solidFill>
                  <a:srgbClr val="404040"/>
                </a:solidFill>
                <a:latin typeface="Century Gothic"/>
              </a:rPr>
              <a:t>Implementáció</a:t>
            </a:r>
            <a:endParaRPr b="0" lang="hu-HU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AutoNum type="arabicPeriod"/>
            </a:pPr>
            <a:r>
              <a:rPr b="0" lang="hu-HU" sz="1800" spc="-1" strike="noStrike">
                <a:solidFill>
                  <a:srgbClr val="404040"/>
                </a:solidFill>
                <a:latin typeface="Century Gothic"/>
              </a:rPr>
              <a:t>Tesztelés </a:t>
            </a:r>
            <a:r>
              <a:rPr b="0" lang="hu-HU" sz="1800" spc="-1" strike="noStrike">
                <a:solidFill>
                  <a:srgbClr val="404040"/>
                </a:solidFill>
                <a:latin typeface="Wingdings"/>
              </a:rPr>
              <a:t></a:t>
            </a:r>
            <a:r>
              <a:rPr b="0" lang="hu-HU" sz="1800" spc="-1" strike="noStrike">
                <a:solidFill>
                  <a:srgbClr val="404040"/>
                </a:solidFill>
                <a:latin typeface="Century Gothic"/>
              </a:rPr>
              <a:t> EZZEL FOGALKOZUNK A TÁRGY KERETÉBEN</a:t>
            </a:r>
            <a:endParaRPr b="0" lang="hu-HU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AutoNum type="arabicPeriod"/>
            </a:pPr>
            <a:r>
              <a:rPr b="0" lang="hu-HU" sz="1800" spc="-1" strike="noStrike">
                <a:solidFill>
                  <a:srgbClr val="404040"/>
                </a:solidFill>
                <a:latin typeface="Century Gothic"/>
              </a:rPr>
              <a:t>Átadás és bevezetés</a:t>
            </a:r>
            <a:endParaRPr b="0" lang="hu-HU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AutoNum type="arabicPeriod"/>
            </a:pPr>
            <a:r>
              <a:rPr b="0" lang="hu-HU" sz="1800" spc="-1" strike="noStrike">
                <a:solidFill>
                  <a:srgbClr val="404040"/>
                </a:solidFill>
                <a:latin typeface="Century Gothic"/>
              </a:rPr>
              <a:t>Üzemeltetés és karbantartás</a:t>
            </a:r>
            <a:endParaRPr b="0" lang="hu-HU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AutoNum type="arabicPeriod"/>
            </a:pPr>
            <a:r>
              <a:rPr b="0" lang="hu-HU" sz="1800" spc="-1" strike="noStrike">
                <a:solidFill>
                  <a:srgbClr val="404040"/>
                </a:solidFill>
                <a:latin typeface="Century Gothic"/>
              </a:rPr>
              <a:t>Kivezetés</a:t>
            </a:r>
            <a:endParaRPr b="0" lang="hu-H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ftr" idx="15"/>
          </p:nvPr>
        </p:nvSpPr>
        <p:spPr>
          <a:xfrm>
            <a:off x="2589120" y="6135840"/>
            <a:ext cx="76194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8b8b8b"/>
                </a:solidFill>
                <a:latin typeface="Century Gothic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8b8b8b"/>
                </a:solidFill>
                <a:latin typeface="Century Gothic"/>
              </a:rPr>
              <a:t>Készítette: Gyamati Gábor@BMSZC Neumann János Informatikai Technikum - 2023.09.1</a:t>
            </a:r>
            <a:r>
              <a:rPr b="0" lang="hu-HU" sz="900" spc="-1" strike="noStrike">
                <a:solidFill>
                  <a:srgbClr val="8b8b8b"/>
                </a:solidFill>
                <a:latin typeface="Century Gothic"/>
              </a:rPr>
              <a:t>2</a:t>
            </a:r>
            <a:endParaRPr b="0" lang="hu-HU" sz="9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88" name="Kép 4" descr="A képen fekete, sötétség látható&#10;&#10;Automatikusan generált leírás"/>
          <p:cNvPicPr/>
          <p:nvPr/>
        </p:nvPicPr>
        <p:blipFill>
          <a:blip r:embed="rId1"/>
          <a:stretch/>
        </p:blipFill>
        <p:spPr>
          <a:xfrm>
            <a:off x="370080" y="151920"/>
            <a:ext cx="634320" cy="634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1080" cy="1280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u-HU" sz="3600" spc="-1" strike="noStrike">
                <a:solidFill>
                  <a:srgbClr val="262626"/>
                </a:solidFill>
                <a:latin typeface="Century Gothic"/>
              </a:rPr>
              <a:t>Szoftver életciklusa</a:t>
            </a:r>
            <a:br>
              <a:rPr sz="3600"/>
            </a:br>
            <a:r>
              <a:rPr b="0" lang="hu-HU" sz="3600" spc="-1" strike="noStrike">
                <a:solidFill>
                  <a:srgbClr val="262626"/>
                </a:solidFill>
                <a:latin typeface="Wingdings"/>
              </a:rPr>
              <a:t></a:t>
            </a:r>
            <a:r>
              <a:rPr b="0" lang="hu-HU" sz="3600" spc="-1" strike="noStrike">
                <a:solidFill>
                  <a:srgbClr val="262626"/>
                </a:solidFill>
                <a:latin typeface="Century Gothic"/>
              </a:rPr>
              <a:t> Új igény</a:t>
            </a:r>
            <a:endParaRPr b="0" lang="hu-HU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PlaceHolder 2"/>
          <p:cNvSpPr>
            <a:spLocks noGrp="1"/>
          </p:cNvSpPr>
          <p:nvPr>
            <p:ph/>
          </p:nvPr>
        </p:nvSpPr>
        <p:spPr>
          <a:xfrm>
            <a:off x="2589120" y="2133720"/>
            <a:ext cx="8914680" cy="3776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algn="just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u-HU" sz="1800" spc="-1" strike="noStrike">
                <a:solidFill>
                  <a:srgbClr val="404040"/>
                </a:solidFill>
                <a:latin typeface="Century Gothic"/>
              </a:rPr>
              <a:t>A szoftver életútja az igény megjelenésénél kezdődik. Az igény a megrendelőtől indul (többnyire az üzleti területtől, aki a szoftvert használni fogja, de egy új funkció, vagy átalakítási igény érkezhet akár a biztonsági területtől is – sérülékenység javítása).</a:t>
            </a:r>
            <a:endParaRPr b="0" lang="hu-HU" sz="18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u-HU" sz="1800" spc="-1" strike="noStrike">
                <a:solidFill>
                  <a:srgbClr val="404040"/>
                </a:solidFill>
                <a:latin typeface="Century Gothic"/>
              </a:rPr>
              <a:t>De mi is az igény? Egy ötlet, aminek során egy folyamatot, nyilvántartást számítógépes megoldással szeretnénk megvalósítani, támogatni.</a:t>
            </a:r>
            <a:endParaRPr b="0" lang="hu-HU" sz="18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u-HU" sz="1800" spc="-1" strike="noStrike">
                <a:solidFill>
                  <a:srgbClr val="404040"/>
                </a:solidFill>
                <a:latin typeface="Century Gothic"/>
              </a:rPr>
              <a:t>Ez az igény általában nagyon általános, nem tartalmaz konkrét funkciókat, elvárásokat.</a:t>
            </a:r>
            <a:endParaRPr b="0" lang="hu-HU" sz="18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i="1" lang="hu-HU" sz="1800" spc="-1" strike="noStrike">
                <a:solidFill>
                  <a:srgbClr val="404040"/>
                </a:solidFill>
                <a:latin typeface="Century Gothic"/>
              </a:rPr>
              <a:t>Példa: „Szeretnénk egy alkalmazást a papír alapú látogató nyilvántartás kiváltására.”</a:t>
            </a:r>
            <a:endParaRPr b="0" lang="hu-HU" sz="18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u-HU" sz="1800" spc="-1" strike="noStrike">
                <a:solidFill>
                  <a:srgbClr val="404040"/>
                </a:solidFill>
                <a:latin typeface="Century Gothic"/>
              </a:rPr>
              <a:t>A továbbfejlesztési, módosítási igényeket is új igényként kezeljük, ezek többnyire sokkal részletesebbek, konkrétabbak, mint a kezdeti igény.</a:t>
            </a:r>
            <a:endParaRPr b="0" lang="hu-H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ftr" idx="16"/>
          </p:nvPr>
        </p:nvSpPr>
        <p:spPr>
          <a:xfrm>
            <a:off x="2589120" y="6135840"/>
            <a:ext cx="76194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8b8b8b"/>
                </a:solidFill>
                <a:latin typeface="Century Gothic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8b8b8b"/>
                </a:solidFill>
                <a:latin typeface="Century Gothic"/>
              </a:rPr>
              <a:t>Készítette: Gyamati Gábor@BMSZC Neumann János Informatikai Technikum - 2023.09.1</a:t>
            </a:r>
            <a:r>
              <a:rPr b="0" lang="hu-HU" sz="900" spc="-1" strike="noStrike">
                <a:solidFill>
                  <a:srgbClr val="8b8b8b"/>
                </a:solidFill>
                <a:latin typeface="Century Gothic"/>
              </a:rPr>
              <a:t>2</a:t>
            </a:r>
            <a:endParaRPr b="0" lang="hu-HU" sz="9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92" name="Kép 4" descr="A képen fekete, sötétség látható&#10;&#10;Automatikusan generált leírás"/>
          <p:cNvPicPr/>
          <p:nvPr/>
        </p:nvPicPr>
        <p:blipFill>
          <a:blip r:embed="rId1"/>
          <a:stretch/>
        </p:blipFill>
        <p:spPr>
          <a:xfrm>
            <a:off x="370080" y="151920"/>
            <a:ext cx="634320" cy="634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1080" cy="1280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u-HU" sz="3600" spc="-1" strike="noStrike">
                <a:solidFill>
                  <a:srgbClr val="262626"/>
                </a:solidFill>
                <a:latin typeface="Century Gothic"/>
              </a:rPr>
              <a:t>Szoftver életciklusa</a:t>
            </a:r>
            <a:br>
              <a:rPr sz="3600"/>
            </a:br>
            <a:r>
              <a:rPr b="0" lang="hu-HU" sz="3600" spc="-1" strike="noStrike">
                <a:solidFill>
                  <a:srgbClr val="262626"/>
                </a:solidFill>
                <a:latin typeface="Wingdings"/>
              </a:rPr>
              <a:t></a:t>
            </a:r>
            <a:r>
              <a:rPr b="0" lang="hu-HU" sz="3600" spc="-1" strike="noStrike">
                <a:solidFill>
                  <a:srgbClr val="262626"/>
                </a:solidFill>
                <a:latin typeface="Century Gothic"/>
              </a:rPr>
              <a:t> Javaslat kidolgozása</a:t>
            </a:r>
            <a:endParaRPr b="0" lang="hu-HU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PlaceHolder 2"/>
          <p:cNvSpPr>
            <a:spLocks noGrp="1"/>
          </p:cNvSpPr>
          <p:nvPr>
            <p:ph/>
          </p:nvPr>
        </p:nvSpPr>
        <p:spPr>
          <a:xfrm>
            <a:off x="2589120" y="2133720"/>
            <a:ext cx="8914680" cy="3776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algn="just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u-HU" sz="1800" spc="-1" strike="noStrike">
                <a:solidFill>
                  <a:srgbClr val="404040"/>
                </a:solidFill>
                <a:latin typeface="Century Gothic"/>
              </a:rPr>
              <a:t>A megrendelő által megfogalmazott igények alapján kidolgozunk egy nagy léptékű javaslatot, hogy milyen megoldással, milyen platformon, mennyi idő alatt tudunk megoldást szállítani a problémára. Ez egy nagyvonalú becslés, hiszen a részletes, a működésre, környezetre vonatkozó elvárások még nem ismertek.</a:t>
            </a:r>
            <a:endParaRPr b="0" lang="hu-HU" sz="18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u-HU" sz="1800" spc="-1" strike="noStrike">
                <a:solidFill>
                  <a:srgbClr val="404040"/>
                </a:solidFill>
                <a:latin typeface="Century Gothic"/>
              </a:rPr>
              <a:t>Amikor átgondoljuk, hogy van-e szabad fejlesztői kapacitásunk a feladat elvégzésére, rendelkezünk-e a szükséges szakmai ismeretekkel, tapasztalattal, akkor valójában tesztelünk: az erőforrásaink megfelelőségét ellenőrizzük.</a:t>
            </a:r>
            <a:endParaRPr b="0" lang="hu-H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ftr" idx="17"/>
          </p:nvPr>
        </p:nvSpPr>
        <p:spPr>
          <a:xfrm>
            <a:off x="2589120" y="6135840"/>
            <a:ext cx="76194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8b8b8b"/>
                </a:solidFill>
                <a:latin typeface="Century Gothic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8b8b8b"/>
                </a:solidFill>
                <a:latin typeface="Century Gothic"/>
              </a:rPr>
              <a:t>Készítette: Gyamati Gábor@BMSZC Neumann János Informatikai Technikum - 2023.09.1</a:t>
            </a:r>
            <a:r>
              <a:rPr b="0" lang="hu-HU" sz="900" spc="-1" strike="noStrike">
                <a:solidFill>
                  <a:srgbClr val="8b8b8b"/>
                </a:solidFill>
                <a:latin typeface="Century Gothic"/>
              </a:rPr>
              <a:t>2</a:t>
            </a:r>
            <a:endParaRPr b="0" lang="hu-HU" sz="9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96" name="Kép 4" descr="A képen fekete, sötétség látható&#10;&#10;Automatikusan generált leírás"/>
          <p:cNvPicPr/>
          <p:nvPr/>
        </p:nvPicPr>
        <p:blipFill>
          <a:blip r:embed="rId1"/>
          <a:stretch/>
        </p:blipFill>
        <p:spPr>
          <a:xfrm>
            <a:off x="370080" y="151920"/>
            <a:ext cx="634320" cy="634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1080" cy="1280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u-HU" sz="3600" spc="-1" strike="noStrike">
                <a:solidFill>
                  <a:srgbClr val="262626"/>
                </a:solidFill>
                <a:latin typeface="Century Gothic"/>
              </a:rPr>
              <a:t>Szoftver életciklusa</a:t>
            </a:r>
            <a:br>
              <a:rPr sz="3600"/>
            </a:br>
            <a:r>
              <a:rPr b="0" lang="hu-HU" sz="3600" spc="-1" strike="noStrike">
                <a:solidFill>
                  <a:srgbClr val="262626"/>
                </a:solidFill>
                <a:latin typeface="Wingdings"/>
              </a:rPr>
              <a:t></a:t>
            </a:r>
            <a:r>
              <a:rPr b="0" lang="hu-HU" sz="3600" spc="-1" strike="noStrike">
                <a:solidFill>
                  <a:srgbClr val="262626"/>
                </a:solidFill>
                <a:latin typeface="Century Gothic"/>
              </a:rPr>
              <a:t> Specifikáció</a:t>
            </a:r>
            <a:endParaRPr b="0" lang="hu-HU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2"/>
          <p:cNvSpPr>
            <a:spLocks noGrp="1"/>
          </p:cNvSpPr>
          <p:nvPr>
            <p:ph/>
          </p:nvPr>
        </p:nvSpPr>
        <p:spPr>
          <a:xfrm>
            <a:off x="2589120" y="2133720"/>
            <a:ext cx="8914680" cy="3776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87000"/>
          </a:bodyPr>
          <a:p>
            <a:pPr indent="0" algn="just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u-HU" sz="1800" spc="-1" strike="noStrike">
                <a:solidFill>
                  <a:srgbClr val="404040"/>
                </a:solidFill>
                <a:latin typeface="Century Gothic"/>
              </a:rPr>
              <a:t>A specifikáció során részletesebben meghatározásra kerülnek az elvárt funkciók, működés. Ezt a megrendelő állítja össze, többnyire az üzleti elemzők (Bussiness Analyst, röviden BA) segítségével.  Ennek során megvizsgálják a folyamatot amit az elkészítendő szoftverrrel szeretnének támogatni, összegyűjtik a releváns szabályozói előírásokat (jogszabályok, belső szabályzatok), fenntartói-, tulajdonosi-, felügyleti elávárásosokat, belső- és külső auditori ajánlásokat.</a:t>
            </a:r>
            <a:endParaRPr b="0" lang="hu-HU" sz="18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u-HU" sz="1800" spc="-1" strike="noStrike">
                <a:solidFill>
                  <a:srgbClr val="404040"/>
                </a:solidFill>
                <a:latin typeface="Century Gothic"/>
              </a:rPr>
              <a:t>A fejlesztési terület a specifikáció alapján már becsülhető a feladatra fordítandó erőforrások mértéke FTE-ben kifejezve (FTE=full time equivalent – azaz ennyi embernapnyi munka szükséges az elkészítéséhez). 1 FTE 1 ember 8 órányi munkáját fejezi ki. Ez alapján a fejlesztési projekt várható költsége is becsülhető. Külső fejlesztés esetén (amikor a fejlesztést nem a megrendelő saját fejlesztői végzik) az árajánlat is ez alapján készül.</a:t>
            </a:r>
            <a:endParaRPr b="0" lang="hu-HU" sz="18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u-HU" sz="1800" spc="-1" strike="noStrike">
                <a:solidFill>
                  <a:srgbClr val="404040"/>
                </a:solidFill>
                <a:latin typeface="Century Gothic"/>
              </a:rPr>
              <a:t>Azok az elvárások, amik nem kerülnek bele a specifikációba, azok többnyire új fejlesztési igényként kerülnek rögzítésre és egy későbbi változatban (verzióban) lesznek megvalósítva.</a:t>
            </a:r>
            <a:endParaRPr b="0" lang="hu-HU" sz="18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hu-HU" sz="1800" spc="-1" strike="noStrike">
                <a:solidFill>
                  <a:srgbClr val="404040"/>
                </a:solidFill>
                <a:latin typeface="Century Gothic"/>
              </a:rPr>
              <a:t>A fejlesztéstől csak a specifikációban foglalt elvárások megvalósítása kérhető számon!</a:t>
            </a:r>
            <a:r>
              <a:rPr b="0" lang="hu-HU" sz="1800" spc="-1" strike="noStrike">
                <a:solidFill>
                  <a:srgbClr val="404040"/>
                </a:solidFill>
                <a:latin typeface="Century Gothic"/>
              </a:rPr>
              <a:t> </a:t>
            </a:r>
            <a:endParaRPr b="0" lang="hu-H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 type="ftr" idx="18"/>
          </p:nvPr>
        </p:nvSpPr>
        <p:spPr>
          <a:xfrm>
            <a:off x="2589120" y="6135840"/>
            <a:ext cx="76194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8b8b8b"/>
                </a:solidFill>
                <a:latin typeface="Century Gothic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8b8b8b"/>
                </a:solidFill>
                <a:latin typeface="Century Gothic"/>
              </a:rPr>
              <a:t>Készítette: Gyamati Gábor@BMSZC Neumann János Informatikai Technikum - 2023.09.1</a:t>
            </a:r>
            <a:r>
              <a:rPr b="0" lang="hu-HU" sz="900" spc="-1" strike="noStrike">
                <a:solidFill>
                  <a:srgbClr val="8b8b8b"/>
                </a:solidFill>
                <a:latin typeface="Century Gothic"/>
              </a:rPr>
              <a:t>2</a:t>
            </a:r>
            <a:endParaRPr b="0" lang="hu-HU" sz="9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00" name="Kép 3" descr="A képen fekete, sötétség látható&#10;&#10;Automatikusan generált leírás"/>
          <p:cNvPicPr/>
          <p:nvPr/>
        </p:nvPicPr>
        <p:blipFill>
          <a:blip r:embed="rId1"/>
          <a:stretch/>
        </p:blipFill>
        <p:spPr>
          <a:xfrm>
            <a:off x="370080" y="151920"/>
            <a:ext cx="634320" cy="634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1080" cy="1280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u-HU" sz="3600" spc="-1" strike="noStrike">
                <a:solidFill>
                  <a:srgbClr val="262626"/>
                </a:solidFill>
                <a:latin typeface="Century Gothic"/>
              </a:rPr>
              <a:t>Szoftver életciklusa </a:t>
            </a:r>
            <a:br>
              <a:rPr sz="3600"/>
            </a:br>
            <a:r>
              <a:rPr b="0" lang="hu-HU" sz="3600" spc="-1" strike="noStrike">
                <a:solidFill>
                  <a:srgbClr val="262626"/>
                </a:solidFill>
                <a:latin typeface="Wingdings"/>
              </a:rPr>
              <a:t></a:t>
            </a:r>
            <a:r>
              <a:rPr b="0" lang="hu-HU" sz="3600" spc="-1" strike="noStrike">
                <a:solidFill>
                  <a:srgbClr val="262626"/>
                </a:solidFill>
                <a:latin typeface="Century Gothic"/>
              </a:rPr>
              <a:t> Logikai és fizikai rendszerterv</a:t>
            </a:r>
            <a:endParaRPr b="0" lang="hu-HU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PlaceHolder 2"/>
          <p:cNvSpPr>
            <a:spLocks noGrp="1"/>
          </p:cNvSpPr>
          <p:nvPr>
            <p:ph/>
          </p:nvPr>
        </p:nvSpPr>
        <p:spPr>
          <a:xfrm>
            <a:off x="2589120" y="2133720"/>
            <a:ext cx="8914680" cy="361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0" algn="just">
              <a:spcBef>
                <a:spcPts val="1001"/>
              </a:spcBef>
              <a:tabLst>
                <a:tab algn="l" pos="0"/>
              </a:tabLst>
            </a:pPr>
            <a:r>
              <a:rPr b="0" lang="hu-HU" sz="1800" spc="-1" strike="noStrike">
                <a:solidFill>
                  <a:srgbClr val="404040"/>
                </a:solidFill>
                <a:latin typeface="Century Gothic"/>
              </a:rPr>
              <a:t>A logikai és fizikai rendszerv alapja a specifikáció. Ez mutatja be részletesen a rendszer elvárt felépítését, működését, az elkészítendő funkciókat, az azok közötti összefüggéseket. Elsősorban UML ábrák és a szöveges leírások alkotják. Alapvetően fejlesztői/üzemeltetői szemléletű leírás, technikai részletekkel.</a:t>
            </a:r>
            <a:endParaRPr b="0" lang="hu-HU" sz="1800" spc="-1" strike="noStrike">
              <a:solidFill>
                <a:srgbClr val="404040"/>
              </a:solidFill>
              <a:latin typeface="Century Gothic"/>
              <a:ea typeface="Microsoft YaHei"/>
            </a:endParaRPr>
          </a:p>
          <a:p>
            <a:pPr marL="432000" indent="0" algn="just">
              <a:spcBef>
                <a:spcPts val="1001"/>
              </a:spcBef>
              <a:tabLst>
                <a:tab algn="l" pos="0"/>
              </a:tabLst>
            </a:pPr>
            <a:r>
              <a:rPr b="0" lang="hu-HU" sz="1800" spc="-1" strike="noStrike">
                <a:solidFill>
                  <a:srgbClr val="404040"/>
                </a:solidFill>
                <a:latin typeface="Century Gothic"/>
              </a:rPr>
              <a:t>A tervezés részeként elkészítésre kerülnek a használandó osztályok (Classok) vázlata, felépítése, az osztályok közötti összefüggések meghatározásra. Kidolgozásra kerülnek a rendszerkapcsolatok, adatáramlási irányok. Megtörténik az adatbázis tervezése.</a:t>
            </a:r>
            <a:endParaRPr b="0" lang="hu-HU" sz="1800" spc="-1" strike="noStrike">
              <a:solidFill>
                <a:srgbClr val="404040"/>
              </a:solidFill>
              <a:latin typeface="Century Gothic"/>
              <a:ea typeface="Microsoft YaHei"/>
            </a:endParaRPr>
          </a:p>
          <a:p>
            <a:pPr marL="432000" indent="0" algn="just">
              <a:spcBef>
                <a:spcPts val="1001"/>
              </a:spcBef>
              <a:tabLst>
                <a:tab algn="l" pos="0"/>
              </a:tabLst>
            </a:pPr>
            <a:r>
              <a:rPr b="0" lang="hu-HU" sz="1800" spc="-1" strike="noStrike">
                <a:solidFill>
                  <a:srgbClr val="404040"/>
                </a:solidFill>
                <a:latin typeface="Century Gothic"/>
              </a:rPr>
              <a:t>Elkészítésre kerülnek a képernyőkép-tervek (amelyek bemutatják a főbb funkciókhoz tervezett képernyők általános elrendezését), a tervezett jelentések tervei.</a:t>
            </a:r>
            <a:endParaRPr b="0" lang="hu-HU" sz="1800" spc="-1" strike="noStrike">
              <a:solidFill>
                <a:srgbClr val="404040"/>
              </a:solidFill>
              <a:latin typeface="Century Gothic"/>
              <a:ea typeface="Microsoft YaHei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 type="ftr" idx="19"/>
          </p:nvPr>
        </p:nvSpPr>
        <p:spPr>
          <a:xfrm>
            <a:off x="2589120" y="6135840"/>
            <a:ext cx="76194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8b8b8b"/>
                </a:solidFill>
                <a:latin typeface="Century Gothic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8b8b8b"/>
                </a:solidFill>
                <a:latin typeface="Century Gothic"/>
              </a:rPr>
              <a:t>Készítette: Gyamati Gábor@BMSZC Neumann János Informatikai Technikum - 2023.09.1</a:t>
            </a:r>
            <a:r>
              <a:rPr b="0" lang="hu-HU" sz="900" spc="-1" strike="noStrike">
                <a:solidFill>
                  <a:srgbClr val="8b8b8b"/>
                </a:solidFill>
                <a:latin typeface="Century Gothic"/>
              </a:rPr>
              <a:t>2</a:t>
            </a:r>
            <a:endParaRPr b="0" lang="hu-HU" sz="9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04" name="Kép 4" descr="A képen fekete, sötétség látható&#10;&#10;Automatikusan generált leírás"/>
          <p:cNvPicPr/>
          <p:nvPr/>
        </p:nvPicPr>
        <p:blipFill>
          <a:blip r:embed="rId1"/>
          <a:stretch/>
        </p:blipFill>
        <p:spPr>
          <a:xfrm>
            <a:off x="370080" y="151920"/>
            <a:ext cx="634320" cy="634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1080" cy="1280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u-HU" sz="3600" spc="-1" strike="noStrike">
                <a:solidFill>
                  <a:srgbClr val="262626"/>
                </a:solidFill>
                <a:latin typeface="Century Gothic"/>
              </a:rPr>
              <a:t>Szoftver életciklusa</a:t>
            </a:r>
            <a:br>
              <a:rPr sz="3600"/>
            </a:br>
            <a:r>
              <a:rPr b="0" lang="hu-HU" sz="3600" spc="-1" strike="noStrike">
                <a:solidFill>
                  <a:srgbClr val="262626"/>
                </a:solidFill>
                <a:latin typeface="Wingdings"/>
              </a:rPr>
              <a:t></a:t>
            </a:r>
            <a:r>
              <a:rPr b="0" lang="hu-HU" sz="3600" spc="-1" strike="noStrike">
                <a:solidFill>
                  <a:srgbClr val="262626"/>
                </a:solidFill>
                <a:latin typeface="Century Gothic"/>
              </a:rPr>
              <a:t> Implementáció</a:t>
            </a:r>
            <a:endParaRPr b="0" lang="hu-HU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PlaceHolder 2"/>
          <p:cNvSpPr>
            <a:spLocks noGrp="1"/>
          </p:cNvSpPr>
          <p:nvPr>
            <p:ph/>
          </p:nvPr>
        </p:nvSpPr>
        <p:spPr>
          <a:xfrm>
            <a:off x="2589120" y="2133720"/>
            <a:ext cx="8914680" cy="3776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algn="just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u-HU" sz="1800" spc="-1" strike="noStrike">
                <a:solidFill>
                  <a:srgbClr val="404040"/>
                </a:solidFill>
                <a:latin typeface="Century Gothic"/>
              </a:rPr>
              <a:t>A logikai és fizikai rendszerterv alapján a fejlesztői csapat elkészíti a szoftvert.</a:t>
            </a:r>
            <a:endParaRPr b="0" lang="hu-HU" sz="18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u-HU" sz="1800" spc="-1" strike="noStrike">
                <a:solidFill>
                  <a:srgbClr val="404040"/>
                </a:solidFill>
                <a:latin typeface="Century Gothic"/>
              </a:rPr>
              <a:t>Itt történik a tényleges „kódolás”, azaz a programkód elkészítése, illetve az adatbázisok létrehozása, a működéshez minimálisan szükséges adatokkal történő feltöltése.</a:t>
            </a:r>
            <a:endParaRPr b="0" lang="hu-HU" sz="18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u-HU" sz="1800" spc="-1" strike="noStrike">
                <a:solidFill>
                  <a:srgbClr val="404040"/>
                </a:solidFill>
                <a:latin typeface="Century Gothic"/>
              </a:rPr>
              <a:t>A fejlesztői környezetben (Development environment – DEV) telepítésre kerülnek az elkészült komponensek.</a:t>
            </a:r>
            <a:endParaRPr b="0" lang="hu-HU" sz="18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u-HU" sz="1800" spc="-1" strike="noStrike">
                <a:solidFill>
                  <a:srgbClr val="404040"/>
                </a:solidFill>
                <a:latin typeface="Century Gothic"/>
              </a:rPr>
              <a:t>Elkészülnek a tesztesetek.</a:t>
            </a:r>
            <a:endParaRPr b="0" lang="hu-H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ftr" idx="20"/>
          </p:nvPr>
        </p:nvSpPr>
        <p:spPr>
          <a:xfrm>
            <a:off x="2589120" y="6135840"/>
            <a:ext cx="76194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8b8b8b"/>
                </a:solidFill>
                <a:latin typeface="Century Gothic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8b8b8b"/>
                </a:solidFill>
                <a:latin typeface="Century Gothic"/>
              </a:rPr>
              <a:t>Készítette: Gyamati Gábor@BMSZC Neumann János Informatikai Technikum - 2023.09.1</a:t>
            </a:r>
            <a:r>
              <a:rPr b="0" lang="hu-HU" sz="900" spc="-1" strike="noStrike">
                <a:solidFill>
                  <a:srgbClr val="8b8b8b"/>
                </a:solidFill>
                <a:latin typeface="Century Gothic"/>
              </a:rPr>
              <a:t>2</a:t>
            </a:r>
            <a:endParaRPr b="0" lang="hu-HU" sz="9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08" name="Kép 1" descr="A képen fekete, sötétség látható&#10;&#10;Automatikusan generált leírás"/>
          <p:cNvPicPr/>
          <p:nvPr/>
        </p:nvPicPr>
        <p:blipFill>
          <a:blip r:embed="rId1"/>
          <a:stretch/>
        </p:blipFill>
        <p:spPr>
          <a:xfrm>
            <a:off x="370080" y="151920"/>
            <a:ext cx="634320" cy="634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1080" cy="1280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u-HU" sz="3600" spc="-1" strike="noStrike">
                <a:solidFill>
                  <a:srgbClr val="262626"/>
                </a:solidFill>
                <a:latin typeface="Century Gothic"/>
              </a:rPr>
              <a:t>Szoftver életciklusa</a:t>
            </a:r>
            <a:br>
              <a:rPr sz="3600"/>
            </a:br>
            <a:r>
              <a:rPr b="0" lang="hu-HU" sz="3600" spc="-1" strike="noStrike">
                <a:solidFill>
                  <a:srgbClr val="262626"/>
                </a:solidFill>
                <a:latin typeface="Wingdings"/>
              </a:rPr>
              <a:t></a:t>
            </a:r>
            <a:r>
              <a:rPr b="0" lang="hu-HU" sz="3600" spc="-1" strike="noStrike">
                <a:solidFill>
                  <a:srgbClr val="262626"/>
                </a:solidFill>
                <a:latin typeface="Century Gothic"/>
              </a:rPr>
              <a:t> Tesztelés</a:t>
            </a:r>
            <a:endParaRPr b="0" lang="hu-HU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PlaceHolder 2"/>
          <p:cNvSpPr>
            <a:spLocks noGrp="1"/>
          </p:cNvSpPr>
          <p:nvPr>
            <p:ph/>
          </p:nvPr>
        </p:nvSpPr>
        <p:spPr>
          <a:xfrm>
            <a:off x="2589120" y="2133720"/>
            <a:ext cx="8914680" cy="3776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algn="just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u-HU" sz="1800" spc="-1" strike="noStrike">
                <a:solidFill>
                  <a:srgbClr val="404040"/>
                </a:solidFill>
                <a:latin typeface="Century Gothic"/>
              </a:rPr>
              <a:t>A tesztelési szakaszban ellenőrizzük azt, hogy az alkalmazásunk mennyire felel meg a specifikációnak, illetve a logikai és fizikai rendszertervben foglaltaknak.</a:t>
            </a:r>
            <a:endParaRPr b="0" lang="hu-HU" sz="18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u-HU" sz="1800" spc="-1" strike="noStrike">
                <a:solidFill>
                  <a:srgbClr val="404040"/>
                </a:solidFill>
                <a:latin typeface="Century Gothic"/>
              </a:rPr>
              <a:t>A tesztelés első köre valójában már az Implementációs fázisban elkezdődik: a fejlesztők ellenőrzik az általuk írt kódot – már a kód írása közben. Ez a fejlesztő saját (fejlesztői) eszközén, a fejlesztői környezetében (IDE – Integrated Development Environment) történik. Automata kódminőség- és biztonsági ellenőrző eszközök is támogathatják ebben a fázisban a forráskód elemzését.</a:t>
            </a:r>
            <a:endParaRPr b="0" lang="hu-HU" sz="18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u-HU" sz="1800" spc="-1" strike="noStrike">
                <a:solidFill>
                  <a:srgbClr val="404040"/>
                </a:solidFill>
                <a:latin typeface="Century Gothic"/>
              </a:rPr>
              <a:t>A tesztelők a már elkészült, lefordított alkalmazást ellenőrzik, futás közben. Ez a DEV környezetben történik.</a:t>
            </a:r>
            <a:endParaRPr b="0" lang="hu-H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 type="ftr" idx="21"/>
          </p:nvPr>
        </p:nvSpPr>
        <p:spPr>
          <a:xfrm>
            <a:off x="2589120" y="6135840"/>
            <a:ext cx="76194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8b8b8b"/>
                </a:solidFill>
                <a:latin typeface="Century Gothic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8b8b8b"/>
                </a:solidFill>
                <a:latin typeface="Century Gothic"/>
              </a:rPr>
              <a:t>Készítette: Gyamati Gábor@BMSZC Neumann János Informatikai Technikum - 2023.09.1</a:t>
            </a:r>
            <a:r>
              <a:rPr b="0" lang="hu-HU" sz="900" spc="-1" strike="noStrike">
                <a:solidFill>
                  <a:srgbClr val="8b8b8b"/>
                </a:solidFill>
                <a:latin typeface="Century Gothic"/>
              </a:rPr>
              <a:t>2</a:t>
            </a:r>
            <a:endParaRPr b="0" lang="hu-HU" sz="9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12" name="Kép 4" descr="A képen fekete, sötétség látható&#10;&#10;Automatikusan generált leírás"/>
          <p:cNvPicPr/>
          <p:nvPr/>
        </p:nvPicPr>
        <p:blipFill>
          <a:blip r:embed="rId1"/>
          <a:stretch/>
        </p:blipFill>
        <p:spPr>
          <a:xfrm>
            <a:off x="370080" y="151920"/>
            <a:ext cx="634320" cy="634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1080" cy="1280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u-HU" sz="3600" spc="-1" strike="noStrike">
                <a:solidFill>
                  <a:srgbClr val="262626"/>
                </a:solidFill>
                <a:latin typeface="Century Gothic"/>
              </a:rPr>
              <a:t>Szoftver életciklusa</a:t>
            </a:r>
            <a:br>
              <a:rPr sz="3600"/>
            </a:br>
            <a:r>
              <a:rPr b="0" lang="hu-HU" sz="3600" spc="-1" strike="noStrike">
                <a:solidFill>
                  <a:srgbClr val="262626"/>
                </a:solidFill>
                <a:latin typeface="Wingdings"/>
              </a:rPr>
              <a:t></a:t>
            </a:r>
            <a:r>
              <a:rPr b="0" lang="hu-HU" sz="3600" spc="-1" strike="noStrike">
                <a:solidFill>
                  <a:srgbClr val="262626"/>
                </a:solidFill>
                <a:latin typeface="Century Gothic"/>
              </a:rPr>
              <a:t> Tesztelés</a:t>
            </a:r>
            <a:endParaRPr b="0" lang="hu-HU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PlaceHolder 2"/>
          <p:cNvSpPr>
            <a:spLocks noGrp="1"/>
          </p:cNvSpPr>
          <p:nvPr>
            <p:ph/>
          </p:nvPr>
        </p:nvSpPr>
        <p:spPr>
          <a:xfrm>
            <a:off x="2589120" y="2133720"/>
            <a:ext cx="8914680" cy="3776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92000"/>
          </a:bodyPr>
          <a:p>
            <a:pPr indent="0" algn="just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u-HU" sz="1800" spc="-1" strike="noStrike">
                <a:solidFill>
                  <a:srgbClr val="404040"/>
                </a:solidFill>
                <a:latin typeface="Century Gothic"/>
              </a:rPr>
              <a:t>Az elkészült, letesztelt alkalmazásból összeállításra kerül a telepítő csomag. Ez átadásra kerül a megrendelőnek, hogy telepítse az ő teszt környezetébe.</a:t>
            </a:r>
            <a:endParaRPr b="0" lang="hu-HU" sz="18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u-HU" sz="1800" spc="-1" strike="noStrike">
                <a:solidFill>
                  <a:srgbClr val="404040"/>
                </a:solidFill>
                <a:latin typeface="Century Gothic"/>
              </a:rPr>
              <a:t>A megrendelő többi rendszerével történő kommunikációt megvalósító adatkapcsolatot (interfész), vagy más integrációt (pl. AD autentikáció) a megrendelőnél üzemelő teszt környezetben lehet tesztelni. Ezt a tesztet a megrendelő végzi, többnyire az üzemeltetői, (ritkábban a tesztelő csapat) a fejlesztői oldal támogatásával. Nagyobb rendszerek esetén erre külön INT környezetet (Integration Test Environment) hoznak létre.</a:t>
            </a:r>
            <a:endParaRPr b="0" lang="hu-HU" sz="18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u-HU" sz="1800" spc="-1" strike="noStrike">
                <a:solidFill>
                  <a:srgbClr val="404040"/>
                </a:solidFill>
                <a:latin typeface="Century Gothic"/>
              </a:rPr>
              <a:t>A tesztelés utolsó lépéseként kerül sor az elfogadási tesztre (User Acceptance Test – UAT). Ezt a megrendelő végzi, ennek eredménye alapján dől el, hogy átveszi a leszállított terméket, vagy felmerültek olyan hibák, amik miatt nem tudja használatba venni. Ez a teszt is az élestől eltérő környezetben történik, a megrendelő oldalán. Ebben a fázisban már a rendszer leendő használói végzik a tesztet.</a:t>
            </a:r>
            <a:endParaRPr b="0" lang="hu-H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 type="ftr" idx="22"/>
          </p:nvPr>
        </p:nvSpPr>
        <p:spPr>
          <a:xfrm>
            <a:off x="2589120" y="6135840"/>
            <a:ext cx="76194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8b8b8b"/>
                </a:solidFill>
                <a:latin typeface="Century Gothic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8b8b8b"/>
                </a:solidFill>
                <a:latin typeface="Century Gothic"/>
              </a:rPr>
              <a:t>Készítette: Gyamati Gábor@BMSZC Neumann János Informatikai Technikum - 2023.09.1</a:t>
            </a:r>
            <a:r>
              <a:rPr b="0" lang="hu-HU" sz="900" spc="-1" strike="noStrike">
                <a:solidFill>
                  <a:srgbClr val="8b8b8b"/>
                </a:solidFill>
                <a:latin typeface="Century Gothic"/>
              </a:rPr>
              <a:t>2</a:t>
            </a:r>
            <a:endParaRPr b="0" lang="hu-HU" sz="9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16" name="Kép 4" descr="A képen fekete, sötétség látható&#10;&#10;Automatikusan generált leírás"/>
          <p:cNvPicPr/>
          <p:nvPr/>
        </p:nvPicPr>
        <p:blipFill>
          <a:blip r:embed="rId1"/>
          <a:stretch/>
        </p:blipFill>
        <p:spPr>
          <a:xfrm>
            <a:off x="370080" y="151920"/>
            <a:ext cx="634320" cy="634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1080" cy="1280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u-HU" sz="3600" spc="-1" strike="noStrike">
                <a:solidFill>
                  <a:srgbClr val="262626"/>
                </a:solidFill>
                <a:latin typeface="Century Gothic"/>
              </a:rPr>
              <a:t>Szoftver életciklusa</a:t>
            </a:r>
            <a:br>
              <a:rPr sz="3600"/>
            </a:br>
            <a:r>
              <a:rPr b="0" lang="hu-HU" sz="3600" spc="-1" strike="noStrike">
                <a:solidFill>
                  <a:srgbClr val="262626"/>
                </a:solidFill>
                <a:latin typeface="Wingdings"/>
              </a:rPr>
              <a:t></a:t>
            </a:r>
            <a:r>
              <a:rPr b="0" lang="hu-HU" sz="3600" spc="-1" strike="noStrike">
                <a:solidFill>
                  <a:srgbClr val="262626"/>
                </a:solidFill>
                <a:latin typeface="Century Gothic"/>
              </a:rPr>
              <a:t> Átadás és bevezetés</a:t>
            </a:r>
            <a:endParaRPr b="0" lang="hu-HU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PlaceHolder 2"/>
          <p:cNvSpPr>
            <a:spLocks noGrp="1"/>
          </p:cNvSpPr>
          <p:nvPr>
            <p:ph/>
          </p:nvPr>
        </p:nvSpPr>
        <p:spPr>
          <a:xfrm>
            <a:off x="2589120" y="2133720"/>
            <a:ext cx="8914680" cy="3776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algn="just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u-HU" sz="1800" spc="-1" strike="noStrike">
                <a:solidFill>
                  <a:srgbClr val="404040"/>
                </a:solidFill>
                <a:latin typeface="Century Gothic"/>
              </a:rPr>
              <a:t>A bevezetés egyszerűbb esetben csak az alkalmazás (vagy a frissítő csomag) éles rendszerbe történő telepítéséből áll. Terítésre kerülnek a munkaállomásokra a kliens programok, vagy publikáljuk, a felhasználók számára elérhetővé tesszük az alkalmazásunkat, amit a felhasználók maguk telepíthetnek. (Pl. mobil alkalmazásnál az utóbbi a jellemző).</a:t>
            </a:r>
            <a:endParaRPr b="0" lang="hu-HU" sz="18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u-HU" sz="1800" spc="-1" strike="noStrike">
                <a:solidFill>
                  <a:srgbClr val="404040"/>
                </a:solidFill>
                <a:latin typeface="Century Gothic"/>
              </a:rPr>
              <a:t>Egy komplex rendszer esetén a fejlesztői oldal támogatási csapata segíti a megrendelőt a rendszer helyes konfigurálásban, beállításban. Éles üzembe állítás előtt oktatják a rendszer leendő üzemeltetőit, adminisztrátorait, kulcsfelhasználóit, ellenőrzik tudásukat (azaz tesztelnek </a:t>
            </a:r>
            <a:r>
              <a:rPr b="0" lang="hu-HU" sz="1800" spc="-1" strike="noStrike">
                <a:solidFill>
                  <a:srgbClr val="404040"/>
                </a:solidFill>
                <a:latin typeface="Wingdings"/>
              </a:rPr>
              <a:t></a:t>
            </a:r>
            <a:r>
              <a:rPr b="0" lang="hu-HU" sz="1800" spc="-1" strike="noStrike">
                <a:solidFill>
                  <a:srgbClr val="404040"/>
                </a:solidFill>
                <a:latin typeface="Century Gothic"/>
              </a:rPr>
              <a:t> ).</a:t>
            </a:r>
            <a:endParaRPr b="0" lang="hu-H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ftr" idx="23"/>
          </p:nvPr>
        </p:nvSpPr>
        <p:spPr>
          <a:xfrm>
            <a:off x="2589120" y="6135840"/>
            <a:ext cx="76194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8b8b8b"/>
                </a:solidFill>
                <a:latin typeface="Century Gothic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8b8b8b"/>
                </a:solidFill>
                <a:latin typeface="Century Gothic"/>
              </a:rPr>
              <a:t>Készítette: Gyamati Gábor@BMSZC Neumann János Informatikai Technikum - 2023.09.1</a:t>
            </a:r>
            <a:r>
              <a:rPr b="0" lang="hu-HU" sz="900" spc="-1" strike="noStrike">
                <a:solidFill>
                  <a:srgbClr val="8b8b8b"/>
                </a:solidFill>
                <a:latin typeface="Century Gothic"/>
              </a:rPr>
              <a:t>2</a:t>
            </a:r>
            <a:endParaRPr b="0" lang="hu-HU" sz="9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20" name="Kép 4" descr="A képen fekete, sötétség látható&#10;&#10;Automatikusan generált leírás"/>
          <p:cNvPicPr/>
          <p:nvPr/>
        </p:nvPicPr>
        <p:blipFill>
          <a:blip r:embed="rId1"/>
          <a:stretch/>
        </p:blipFill>
        <p:spPr>
          <a:xfrm>
            <a:off x="370080" y="151920"/>
            <a:ext cx="634320" cy="634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1080" cy="1280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u-HU" sz="3600" spc="-1" strike="noStrike">
                <a:solidFill>
                  <a:srgbClr val="262626"/>
                </a:solidFill>
                <a:latin typeface="Century Gothic"/>
              </a:rPr>
              <a:t>Szoftver életciklusa</a:t>
            </a:r>
            <a:br>
              <a:rPr sz="3600"/>
            </a:br>
            <a:r>
              <a:rPr b="0" lang="hu-HU" sz="3600" spc="-1" strike="noStrike">
                <a:solidFill>
                  <a:srgbClr val="262626"/>
                </a:solidFill>
                <a:latin typeface="Wingdings"/>
              </a:rPr>
              <a:t></a:t>
            </a:r>
            <a:r>
              <a:rPr b="0" lang="hu-HU" sz="3600" spc="-1" strike="noStrike">
                <a:solidFill>
                  <a:srgbClr val="262626"/>
                </a:solidFill>
                <a:latin typeface="Century Gothic"/>
              </a:rPr>
              <a:t> Üzemeltetés és karbantartás</a:t>
            </a:r>
            <a:endParaRPr b="0" lang="hu-HU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PlaceHolder 2"/>
          <p:cNvSpPr>
            <a:spLocks noGrp="1"/>
          </p:cNvSpPr>
          <p:nvPr>
            <p:ph/>
          </p:nvPr>
        </p:nvSpPr>
        <p:spPr>
          <a:xfrm>
            <a:off x="2589120" y="2133720"/>
            <a:ext cx="8914680" cy="3776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96000"/>
          </a:bodyPr>
          <a:p>
            <a:pPr indent="0" algn="just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u-HU" sz="1800" spc="-1" strike="noStrike">
                <a:solidFill>
                  <a:srgbClr val="404040"/>
                </a:solidFill>
                <a:latin typeface="Century Gothic"/>
              </a:rPr>
              <a:t>Ügyfél oldalról nézve a folyamatos üzemeltetési feladatok magukban foglalják a rendszer mentéséhez, helyreállításához szükséges műveleteket, az üzemeltetési paraméterek módosítását, frissítések, új modulok/komponensek telepítését.</a:t>
            </a:r>
            <a:endParaRPr b="0" lang="hu-HU" sz="18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u-HU" sz="1800" spc="-1" strike="noStrike">
                <a:solidFill>
                  <a:srgbClr val="404040"/>
                </a:solidFill>
                <a:latin typeface="Century Gothic"/>
              </a:rPr>
              <a:t>Szabályozott környezetben ezek mindegyike egy szigorú változáskezelési eljárásrend szerint történik, amelyek magukban foglalják a tesztelést is.</a:t>
            </a:r>
            <a:endParaRPr b="0" lang="hu-HU" sz="18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u-HU" sz="1800" spc="-1" strike="noStrike">
                <a:solidFill>
                  <a:srgbClr val="404040"/>
                </a:solidFill>
                <a:latin typeface="Century Gothic"/>
              </a:rPr>
              <a:t>Fejlesztői, illetve tesztelési szempontból ebben a fázisban a szoftverkomponensek (3rd party library) frissítése, a feltárt, korábban nem javított kisebb hibák, elírások javítása, a dokumentáció karbantartása a fő feladatok. </a:t>
            </a:r>
            <a:endParaRPr b="0" lang="hu-HU" sz="18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u-HU" sz="1800" spc="-1" strike="noStrike">
                <a:solidFill>
                  <a:srgbClr val="404040"/>
                </a:solidFill>
                <a:latin typeface="Century Gothic"/>
              </a:rPr>
              <a:t>A működés közben fellépő változtatási igényeket, új funkciókat (pl. jogszabályi változások követése, új rendszerekhez történő integráció megvalósítása) új igényként kezeljük.</a:t>
            </a:r>
            <a:endParaRPr b="0" lang="hu-H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PlaceHolder 3"/>
          <p:cNvSpPr>
            <a:spLocks noGrp="1"/>
          </p:cNvSpPr>
          <p:nvPr>
            <p:ph type="ftr" idx="24"/>
          </p:nvPr>
        </p:nvSpPr>
        <p:spPr>
          <a:xfrm>
            <a:off x="2589120" y="6135840"/>
            <a:ext cx="76194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8b8b8b"/>
                </a:solidFill>
                <a:latin typeface="Century Gothic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8b8b8b"/>
                </a:solidFill>
                <a:latin typeface="Century Gothic"/>
              </a:rPr>
              <a:t>Készítette: Gyamati Gábor@BMSZC Neumann János Informatikai Technikum - 2023.09.1</a:t>
            </a:r>
            <a:r>
              <a:rPr b="0" lang="hu-HU" sz="900" spc="-1" strike="noStrike">
                <a:solidFill>
                  <a:srgbClr val="8b8b8b"/>
                </a:solidFill>
                <a:latin typeface="Century Gothic"/>
              </a:rPr>
              <a:t>2</a:t>
            </a:r>
            <a:endParaRPr b="0" lang="hu-HU" sz="9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24" name="Kép 4" descr="A képen fekete, sötétség látható&#10;&#10;Automatikusan generált leírás"/>
          <p:cNvPicPr/>
          <p:nvPr/>
        </p:nvPicPr>
        <p:blipFill>
          <a:blip r:embed="rId1"/>
          <a:stretch/>
        </p:blipFill>
        <p:spPr>
          <a:xfrm>
            <a:off x="370080" y="151920"/>
            <a:ext cx="634320" cy="634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1080" cy="1280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u-HU" sz="3600" spc="-1" strike="noStrike">
                <a:solidFill>
                  <a:srgbClr val="262626"/>
                </a:solidFill>
                <a:latin typeface="Century Gothic"/>
              </a:rPr>
              <a:t>Szoftver életciklusa</a:t>
            </a:r>
            <a:br>
              <a:rPr sz="3600"/>
            </a:br>
            <a:r>
              <a:rPr b="0" lang="hu-HU" sz="3600" spc="-1" strike="noStrike">
                <a:solidFill>
                  <a:srgbClr val="262626"/>
                </a:solidFill>
                <a:latin typeface="Wingdings"/>
              </a:rPr>
              <a:t></a:t>
            </a:r>
            <a:r>
              <a:rPr b="0" lang="hu-HU" sz="3600" spc="-1" strike="noStrike">
                <a:solidFill>
                  <a:srgbClr val="262626"/>
                </a:solidFill>
                <a:latin typeface="Century Gothic"/>
              </a:rPr>
              <a:t> Kivezetés</a:t>
            </a:r>
            <a:endParaRPr b="0" lang="hu-HU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PlaceHolder 2"/>
          <p:cNvSpPr>
            <a:spLocks noGrp="1"/>
          </p:cNvSpPr>
          <p:nvPr>
            <p:ph/>
          </p:nvPr>
        </p:nvSpPr>
        <p:spPr>
          <a:xfrm>
            <a:off x="2589120" y="2133720"/>
            <a:ext cx="8914680" cy="3776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algn="just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u-HU" sz="1800" spc="-1" strike="noStrike">
                <a:solidFill>
                  <a:srgbClr val="404040"/>
                </a:solidFill>
                <a:latin typeface="Century Gothic"/>
              </a:rPr>
              <a:t>A szoftver (használatból történő) kivezetése is igényel előkészítést, tervezést, tesztelést. Ideális esetben ezek már a szoftver tervezése során meghatározásra kerülnek.</a:t>
            </a:r>
            <a:endParaRPr b="0" lang="hu-HU" sz="18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u-HU" sz="1800" spc="-1" strike="noStrike">
                <a:solidFill>
                  <a:srgbClr val="404040"/>
                </a:solidFill>
                <a:latin typeface="Century Gothic"/>
              </a:rPr>
              <a:t>Fejlesztési oldalról ez magában foglalhatja például:</a:t>
            </a:r>
            <a:endParaRPr b="0" lang="hu-HU" sz="18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u-HU" sz="1800" spc="-1" strike="noStrike">
                <a:solidFill>
                  <a:srgbClr val="404040"/>
                </a:solidFill>
                <a:latin typeface="Century Gothic"/>
              </a:rPr>
              <a:t>- a szoftver tervezett támogatási idejének meghatározását (pl. az adott technológia, platform akkora válik elavulttá);</a:t>
            </a:r>
            <a:endParaRPr b="0" lang="hu-HU" sz="18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u-HU" sz="1800" spc="-1" strike="noStrike">
                <a:solidFill>
                  <a:srgbClr val="404040"/>
                </a:solidFill>
                <a:latin typeface="Century Gothic"/>
              </a:rPr>
              <a:t>- alternatívák vizsgálata (mire lehet áttérni, milyen termékkel/szolgáltatással lehet helyettesíteni). (Ez lehet akár más saját termék, vagy ugyanezen termék más verziója is);</a:t>
            </a:r>
            <a:endParaRPr b="0" lang="hu-HU" sz="18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u-HU" sz="1800" spc="-1" strike="noStrike">
                <a:solidFill>
                  <a:srgbClr val="404040"/>
                </a:solidFill>
                <a:latin typeface="Century Gothic"/>
              </a:rPr>
              <a:t>- adatexportálási, archiválási megoldások (ismét csak a migráció támogatására).</a:t>
            </a:r>
            <a:endParaRPr b="0" lang="hu-H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 type="ftr" idx="25"/>
          </p:nvPr>
        </p:nvSpPr>
        <p:spPr>
          <a:xfrm>
            <a:off x="2589120" y="6135840"/>
            <a:ext cx="76194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8b8b8b"/>
                </a:solidFill>
                <a:latin typeface="Century Gothic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8b8b8b"/>
                </a:solidFill>
                <a:latin typeface="Century Gothic"/>
              </a:rPr>
              <a:t>Készítette: Gyamati Gábor@BMSZC Neumann János Informatikai Technikum - 2023.09.1</a:t>
            </a:r>
            <a:r>
              <a:rPr b="0" lang="hu-HU" sz="900" spc="-1" strike="noStrike">
                <a:solidFill>
                  <a:srgbClr val="8b8b8b"/>
                </a:solidFill>
                <a:latin typeface="Century Gothic"/>
              </a:rPr>
              <a:t>2</a:t>
            </a:r>
            <a:endParaRPr b="0" lang="hu-HU" sz="9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28" name="Kép 4" descr="A képen fekete, sötétség látható&#10;&#10;Automatikusan generált leírás"/>
          <p:cNvPicPr/>
          <p:nvPr/>
        </p:nvPicPr>
        <p:blipFill>
          <a:blip r:embed="rId1"/>
          <a:stretch/>
        </p:blipFill>
        <p:spPr>
          <a:xfrm>
            <a:off x="370080" y="151920"/>
            <a:ext cx="634320" cy="634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title"/>
          </p:nvPr>
        </p:nvSpPr>
        <p:spPr>
          <a:xfrm>
            <a:off x="2589120" y="2080800"/>
            <a:ext cx="8914680" cy="226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u-HU" sz="5400" spc="-1" strike="noStrike">
                <a:solidFill>
                  <a:srgbClr val="262626"/>
                </a:solidFill>
                <a:latin typeface="Century Gothic"/>
              </a:rPr>
              <a:t>Köszönöm a figyelmet!</a:t>
            </a:r>
            <a:endParaRPr b="0" lang="hu-HU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PlaceHolder 2"/>
          <p:cNvSpPr>
            <a:spLocks noGrp="1"/>
          </p:cNvSpPr>
          <p:nvPr>
            <p:ph type="subTitle"/>
          </p:nvPr>
        </p:nvSpPr>
        <p:spPr>
          <a:xfrm>
            <a:off x="2589120" y="4777200"/>
            <a:ext cx="8914680" cy="112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u-HU" sz="1800" spc="-1" strike="noStrike">
                <a:solidFill>
                  <a:srgbClr val="595959"/>
                </a:solidFill>
                <a:latin typeface="Century Gothic"/>
              </a:rPr>
              <a:t>Jó tanulást és sikeres tesztelést kívánunk! </a:t>
            </a:r>
            <a:r>
              <a:rPr b="0" lang="hu-HU" sz="1800" spc="-1" strike="noStrike">
                <a:solidFill>
                  <a:srgbClr val="595959"/>
                </a:solidFill>
                <a:latin typeface="Wingdings"/>
              </a:rPr>
              <a:t></a:t>
            </a:r>
            <a:endParaRPr b="0" lang="hu-H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ftr" idx="26"/>
          </p:nvPr>
        </p:nvSpPr>
        <p:spPr>
          <a:xfrm>
            <a:off x="2589120" y="6135840"/>
            <a:ext cx="76194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8b8b8b"/>
                </a:solidFill>
                <a:latin typeface="Century Gothic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8b8b8b"/>
                </a:solidFill>
                <a:latin typeface="Century Gothic"/>
              </a:rPr>
              <a:t>Készítette: Gyamati Gábor@BMSZC Neumann János Informatikai Technikum - 2023.09.1</a:t>
            </a:r>
            <a:r>
              <a:rPr b="0" lang="hu-HU" sz="900" spc="-1" strike="noStrike">
                <a:solidFill>
                  <a:srgbClr val="8b8b8b"/>
                </a:solidFill>
                <a:latin typeface="Century Gothic"/>
              </a:rPr>
              <a:t>3</a:t>
            </a:r>
            <a:endParaRPr b="0" lang="hu-HU" sz="9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32" name="Kép 8" descr="A képen fekete, sötétség látható&#10;&#10;Automatikusan generált leírás"/>
          <p:cNvPicPr/>
          <p:nvPr/>
        </p:nvPicPr>
        <p:blipFill>
          <a:blip r:embed="rId1"/>
          <a:stretch/>
        </p:blipFill>
        <p:spPr>
          <a:xfrm>
            <a:off x="370080" y="151920"/>
            <a:ext cx="634320" cy="634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Szálak">
  <a:themeElements>
    <a:clrScheme name="Wisp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Szálak">
  <a:themeElements>
    <a:clrScheme name="Wisp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1020</TotalTime>
  <Application>LibreOffice/7.5.5.2$Windows_X86_64 LibreOffice_project/ca8fe7424262805f223b9a2334bc7181abbcbf5e</Application>
  <AppVersion>15.0000</AppVersion>
  <Words>1093</Words>
  <Paragraphs>65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contentStatus>Tervezet</cp:contentStatus>
  <dcterms:created xsi:type="dcterms:W3CDTF">2023-09-10T09:10:14Z</dcterms:created>
  <dc:creator>Gyarmati Gábor</dc:creator>
  <dc:description/>
  <cp:keywords>Tesztelés Jegyzek</cp:keywords>
  <dc:language>hu-HU</dc:language>
  <cp:lastModifiedBy/>
  <dcterms:modified xsi:type="dcterms:W3CDTF">2023-09-13T20:44:55Z</dcterms:modified>
  <cp:revision>14</cp:revision>
  <dc:subject/>
  <dc:title>Tesztelés - alapfogalmak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Szélesvásznú</vt:lpwstr>
  </property>
  <property fmtid="{D5CDD505-2E9C-101B-9397-08002B2CF9AE}" pid="3" name="Slides">
    <vt:i4>12</vt:i4>
  </property>
</Properties>
</file>